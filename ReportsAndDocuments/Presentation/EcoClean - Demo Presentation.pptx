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3" r:id="rId3"/>
    <p:sldId id="267" r:id="rId4"/>
    <p:sldId id="265" r:id="rId5"/>
    <p:sldId id="266" r:id="rId6"/>
    <p:sldId id="269" r:id="rId7"/>
    <p:sldId id="270" r:id="rId8"/>
    <p:sldId id="273" r:id="rId9"/>
    <p:sldId id="274" r:id="rId10"/>
    <p:sldId id="268" r:id="rId11"/>
    <p:sldId id="275" r:id="rId12"/>
    <p:sldId id="271" r:id="rId13"/>
    <p:sldId id="27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6F05"/>
    <a:srgbClr val="5FAF2E"/>
    <a:srgbClr val="EBED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49AF26-985F-4579-9614-3E80A9F234BF}" v="89" dt="2026-04-09T01:24:50.6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8"/>
  </p:normalViewPr>
  <p:slideViewPr>
    <p:cSldViewPr snapToGrid="0">
      <p:cViewPr varScale="1">
        <p:scale>
          <a:sx n="119" d="100"/>
          <a:sy n="119" d="100"/>
        </p:scale>
        <p:origin x="163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4881C2-F5AA-920F-E5E6-B6D5C3171D8E}"/>
              </a:ext>
            </a:extLst>
          </p:cNvPr>
          <p:cNvSpPr/>
          <p:nvPr userDrawn="1"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FA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E5F8BE-3D49-5DCF-D4EC-6C26109AC7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68640" y="60325"/>
            <a:ext cx="754380" cy="75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AA7E7C-62A6-1035-DB59-2208DDC5A2EF}"/>
              </a:ext>
            </a:extLst>
          </p:cNvPr>
          <p:cNvSpPr/>
          <p:nvPr userDrawn="1"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FA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767334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Barlow Condensed Light" panose="00000406000000000000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4E6F05"/>
          </a:solidFill>
          <a:latin typeface="Barlow Condensed Light" panose="00000406000000000000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Barlow Condensed Light" panose="00000406000000000000" pitchFamily="2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Barlow Condensed Light" panose="00000406000000000000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Barlow Condensed Light" panose="00000406000000000000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Barlow Condensed Light" panose="00000406000000000000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FFDDD-1C71-65AC-23AD-3C64266BC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16176"/>
            <a:ext cx="7772400" cy="1187152"/>
          </a:xfrm>
        </p:spPr>
        <p:txBody>
          <a:bodyPr>
            <a:normAutofit/>
          </a:bodyPr>
          <a:lstStyle/>
          <a:p>
            <a:r>
              <a:rPr lang="fr-CA" sz="6600" b="1"/>
              <a:t>Eco-Clean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A8B51-F63F-5884-EE68-4FE94C1C0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009" y="3645774"/>
            <a:ext cx="7853081" cy="1378047"/>
          </a:xfrm>
        </p:spPr>
        <p:txBody>
          <a:bodyPr>
            <a:normAutofit/>
          </a:bodyPr>
          <a:lstStyle/>
          <a:p>
            <a:r>
              <a:rPr lang="en-CA" sz="2600" b="1">
                <a:solidFill>
                  <a:srgbClr val="4E6F05"/>
                </a:solidFill>
              </a:rPr>
              <a:t>Design and Implementation of an Affordable, PWA-Enabled Digital Operations Web Application for Workforce Scheduling and Management in Small Businesses</a:t>
            </a:r>
            <a:endParaRPr lang="en-GB" sz="2600">
              <a:solidFill>
                <a:srgbClr val="4E6F05"/>
              </a:solidFill>
            </a:endParaRPr>
          </a:p>
          <a:p>
            <a:endParaRPr lang="fr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0425F0-0192-887E-944B-F341B626E7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78424" y="1219200"/>
            <a:ext cx="1187151" cy="11871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A61232-7D31-9360-3767-F83FA1898461}"/>
              </a:ext>
            </a:extLst>
          </p:cNvPr>
          <p:cNvSpPr txBox="1"/>
          <p:nvPr/>
        </p:nvSpPr>
        <p:spPr>
          <a:xfrm>
            <a:off x="2368550" y="5398374"/>
            <a:ext cx="4572000" cy="715089"/>
          </a:xfrm>
          <a:prstGeom prst="roundRect">
            <a:avLst/>
          </a:prstGeom>
          <a:noFill/>
          <a:ln>
            <a:solidFill>
              <a:srgbClr val="4E6F0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800" b="1" err="1">
                <a:latin typeface="Barlow Condensed Light" panose="00000406000000000000" pitchFamily="2" charset="0"/>
              </a:rPr>
              <a:t>Vidarshan</a:t>
            </a:r>
            <a:r>
              <a:rPr lang="en-US" sz="1800" b="1">
                <a:latin typeface="Barlow Condensed Light" panose="00000406000000000000" pitchFamily="2" charset="0"/>
              </a:rPr>
              <a:t> </a:t>
            </a:r>
            <a:r>
              <a:rPr lang="en-US" sz="1800" b="1" err="1">
                <a:latin typeface="Barlow Condensed Light" panose="00000406000000000000" pitchFamily="2" charset="0"/>
              </a:rPr>
              <a:t>Rathnayake</a:t>
            </a:r>
            <a:r>
              <a:rPr lang="en-US" sz="1800" b="1">
                <a:latin typeface="Barlow Condensed Light" panose="00000406000000000000" pitchFamily="2" charset="0"/>
              </a:rPr>
              <a:t> | Upul Atapattu</a:t>
            </a:r>
          </a:p>
          <a:p>
            <a:pPr algn="ctr"/>
            <a:r>
              <a:rPr lang="en-US" sz="1800" b="1">
                <a:latin typeface="Barlow Condensed Light" panose="00000406000000000000" pitchFamily="2" charset="0"/>
              </a:rPr>
              <a:t>CSIS 4495 002</a:t>
            </a:r>
          </a:p>
        </p:txBody>
      </p:sp>
    </p:spTree>
    <p:extLst>
      <p:ext uri="{BB962C8B-B14F-4D97-AF65-F5344CB8AC3E}">
        <p14:creationId xmlns:p14="http://schemas.microsoft.com/office/powerpoint/2010/main" val="3102777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73F4F5F-ADF3-F93A-4E12-62F3933F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7033260" cy="914400"/>
          </a:xfrm>
        </p:spPr>
        <p:txBody>
          <a:bodyPr anchor="ctr">
            <a:normAutofit/>
          </a:bodyPr>
          <a:lstStyle/>
          <a:p>
            <a:pPr algn="l"/>
            <a:r>
              <a:rPr lang="fr-CA" b="1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0CC4FC-D1E5-F326-CB8C-BD8AB949EF41}"/>
              </a:ext>
            </a:extLst>
          </p:cNvPr>
          <p:cNvSpPr txBox="1"/>
          <p:nvPr/>
        </p:nvSpPr>
        <p:spPr>
          <a:xfrm>
            <a:off x="640080" y="1488808"/>
            <a:ext cx="3150870" cy="436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900"/>
              </a:spcAft>
            </a:pPr>
            <a:r>
              <a:rPr lang="en-GB">
                <a:latin typeface="Barlow Condensed Light" panose="00000406000000000000" pitchFamily="2" charset="0"/>
              </a:rPr>
              <a:t>Small service-providing businesses such as cleaning companies often rely on manual scheduling, spreadsheets, and fragmented communication methods to coordinate day-to-day operations. These practices increase administrative overhead, create scheduling conflicts, and limit operational visibility.</a:t>
            </a:r>
          </a:p>
          <a:p>
            <a:r>
              <a:rPr lang="en-GB">
                <a:latin typeface="Barlow Condensed Light" panose="00000406000000000000" pitchFamily="2" charset="0"/>
              </a:rPr>
              <a:t>This project investigates whether a centralized digital platform can provide an affordable and scalable alternative for workforce scheduling, staff management, and appointment coordination.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2B4A64-B9AA-C7A0-DA42-E2AD604D5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345" y="1488808"/>
            <a:ext cx="4860260" cy="346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420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73F4F5F-ADF3-F93A-4E12-62F3933F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7033260" cy="914400"/>
          </a:xfrm>
        </p:spPr>
        <p:txBody>
          <a:bodyPr anchor="ctr">
            <a:normAutofit/>
          </a:bodyPr>
          <a:lstStyle/>
          <a:p>
            <a:pPr algn="l"/>
            <a:r>
              <a:rPr lang="fr-CA" b="1" err="1">
                <a:solidFill>
                  <a:schemeClr val="bg1"/>
                </a:solidFill>
              </a:rPr>
              <a:t>Research</a:t>
            </a:r>
            <a:r>
              <a:rPr lang="fr-CA" b="1">
                <a:solidFill>
                  <a:schemeClr val="bg1"/>
                </a:solidFill>
              </a:rPr>
              <a:t> Methods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0CC4FC-D1E5-F326-CB8C-BD8AB949EF41}"/>
              </a:ext>
            </a:extLst>
          </p:cNvPr>
          <p:cNvSpPr txBox="1"/>
          <p:nvPr/>
        </p:nvSpPr>
        <p:spPr>
          <a:xfrm>
            <a:off x="640080" y="1188720"/>
            <a:ext cx="8294370" cy="44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900"/>
              </a:spcAft>
            </a:pPr>
            <a:r>
              <a:rPr lang="en-US" b="1">
                <a:latin typeface="Barlow Condensed Light" panose="00000406000000000000" pitchFamily="2" charset="0"/>
              </a:rPr>
              <a:t>Interviews</a:t>
            </a:r>
          </a:p>
          <a:p>
            <a:pPr algn="just">
              <a:spcAft>
                <a:spcPts val="900"/>
              </a:spcAft>
            </a:pPr>
            <a:r>
              <a:rPr lang="en-US">
                <a:latin typeface="Barlow Condensed Light" panose="00000406000000000000" pitchFamily="2" charset="0"/>
              </a:rPr>
              <a:t>Conducted multiple discussions with the client to understand operational workflows, challenges, and business needs.</a:t>
            </a:r>
          </a:p>
          <a:p>
            <a:pPr algn="just">
              <a:spcAft>
                <a:spcPts val="900"/>
              </a:spcAft>
            </a:pPr>
            <a:r>
              <a:rPr lang="en-US" b="1">
                <a:latin typeface="Barlow Condensed Light" panose="00000406000000000000" pitchFamily="2" charset="0"/>
              </a:rPr>
              <a:t>Shadowing</a:t>
            </a:r>
          </a:p>
          <a:p>
            <a:pPr algn="just">
              <a:spcAft>
                <a:spcPts val="900"/>
              </a:spcAft>
            </a:pPr>
            <a:r>
              <a:rPr lang="en-US">
                <a:latin typeface="Barlow Condensed Light" panose="00000406000000000000" pitchFamily="2" charset="0"/>
              </a:rPr>
              <a:t>Observed day-to-day administrative tasks (scheduling, coordination) to identify inefficiencies in real scenarios.</a:t>
            </a:r>
          </a:p>
          <a:p>
            <a:pPr algn="just">
              <a:spcAft>
                <a:spcPts val="900"/>
              </a:spcAft>
            </a:pPr>
            <a:r>
              <a:rPr lang="en-US" b="1">
                <a:latin typeface="Barlow Condensed Light" panose="00000406000000000000" pitchFamily="2" charset="0"/>
              </a:rPr>
              <a:t>Platform Analysis</a:t>
            </a:r>
          </a:p>
          <a:p>
            <a:pPr algn="just">
              <a:spcAft>
                <a:spcPts val="900"/>
              </a:spcAft>
            </a:pPr>
            <a:r>
              <a:rPr lang="en-US">
                <a:latin typeface="Barlow Condensed Light" panose="00000406000000000000" pitchFamily="2" charset="0"/>
              </a:rPr>
              <a:t>Reviewed existing tools and solutions to evaluate limitations and gaps in current approaches.</a:t>
            </a:r>
          </a:p>
          <a:p>
            <a:pPr algn="just">
              <a:spcAft>
                <a:spcPts val="900"/>
              </a:spcAft>
            </a:pPr>
            <a:r>
              <a:rPr lang="en-US" b="1">
                <a:latin typeface="Barlow Condensed Light" panose="00000406000000000000" pitchFamily="2" charset="0"/>
              </a:rPr>
              <a:t>Technology Research</a:t>
            </a:r>
          </a:p>
          <a:p>
            <a:pPr algn="just">
              <a:spcAft>
                <a:spcPts val="900"/>
              </a:spcAft>
            </a:pPr>
            <a:r>
              <a:rPr lang="en-US">
                <a:latin typeface="Barlow Condensed Light" panose="00000406000000000000" pitchFamily="2" charset="0"/>
              </a:rPr>
              <a:t>Explored modern tech stacks and frameworks suitable for scalable, cost-effective implementation.</a:t>
            </a:r>
          </a:p>
          <a:p>
            <a:pPr algn="just">
              <a:spcAft>
                <a:spcPts val="900"/>
              </a:spcAft>
            </a:pPr>
            <a:r>
              <a:rPr lang="en-US" b="1">
                <a:latin typeface="Barlow Condensed Light" panose="00000406000000000000" pitchFamily="2" charset="0"/>
              </a:rPr>
              <a:t>Design Decisions</a:t>
            </a:r>
          </a:p>
          <a:p>
            <a:pPr algn="just">
              <a:spcAft>
                <a:spcPts val="900"/>
              </a:spcAft>
            </a:pPr>
            <a:r>
              <a:rPr lang="en-US">
                <a:latin typeface="Barlow Condensed Light" panose="00000406000000000000" pitchFamily="2" charset="0"/>
              </a:rPr>
              <a:t>Translated insights into system architecture and feature design aligned with business needs</a:t>
            </a:r>
            <a:endParaRPr lang="en-GB">
              <a:latin typeface="Barlow Condensed Light" panose="000004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055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73F4F5F-ADF3-F93A-4E12-62F3933F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7033260" cy="914400"/>
          </a:xfrm>
        </p:spPr>
        <p:txBody>
          <a:bodyPr anchor="ctr">
            <a:normAutofit/>
          </a:bodyPr>
          <a:lstStyle/>
          <a:p>
            <a:pPr algn="l"/>
            <a:r>
              <a:rPr lang="fr-CA" b="1" err="1">
                <a:solidFill>
                  <a:schemeClr val="bg1"/>
                </a:solidFill>
              </a:rPr>
              <a:t>Evolution</a:t>
            </a:r>
            <a:r>
              <a:rPr lang="fr-CA" b="1">
                <a:solidFill>
                  <a:schemeClr val="bg1"/>
                </a:solidFill>
              </a:rPr>
              <a:t> of the Project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0CC4FC-D1E5-F326-CB8C-BD8AB949EF41}"/>
              </a:ext>
            </a:extLst>
          </p:cNvPr>
          <p:cNvSpPr txBox="1"/>
          <p:nvPr/>
        </p:nvSpPr>
        <p:spPr>
          <a:xfrm>
            <a:off x="264160" y="2241218"/>
            <a:ext cx="1950720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Barlow Condensed Light" panose="00000406000000000000" pitchFamily="2" charset="0"/>
              </a:rPr>
              <a:t>Web scheduling platform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Barlow Condensed Light" panose="00000406000000000000" pitchFamily="2" charset="0"/>
              </a:rPr>
              <a:t>Mobile apps (iOS &amp; Android)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Barlow Condensed Light" panose="00000406000000000000" pitchFamily="2" charset="0"/>
              </a:rPr>
              <a:t>Booking &amp; dashboards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Barlow Condensed Light" panose="00000406000000000000" pitchFamily="2" charset="0"/>
              </a:rPr>
              <a:t>Maps + notifications</a:t>
            </a:r>
            <a:endParaRPr lang="en-GB">
              <a:latin typeface="Barlow Condensed Light" panose="00000406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BA3B2C-BB60-412C-6AC2-BA087C0F90C7}"/>
              </a:ext>
            </a:extLst>
          </p:cNvPr>
          <p:cNvSpPr txBox="1"/>
          <p:nvPr/>
        </p:nvSpPr>
        <p:spPr>
          <a:xfrm>
            <a:off x="2400300" y="2287270"/>
            <a:ext cx="195072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Barlow Condensed Light" panose="00000406000000000000" pitchFamily="2" charset="0"/>
              </a:rPr>
              <a:t>No client booking needed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Barlow Condensed Light" panose="00000406000000000000" pitchFamily="2" charset="0"/>
              </a:rPr>
              <a:t>Staff travel-based work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Barlow Condensed Light" panose="00000406000000000000" pitchFamily="2" charset="0"/>
              </a:rPr>
              <a:t>GPS time tracking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Barlow Condensed Light" panose="00000406000000000000" pitchFamily="2" charset="0"/>
              </a:rPr>
              <a:t>Availability &amp; leave</a:t>
            </a:r>
            <a:endParaRPr lang="en-GB">
              <a:latin typeface="Barlow Condensed Light" panose="00000406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3D1335-EBD7-A292-D2D2-F56218CB8512}"/>
              </a:ext>
            </a:extLst>
          </p:cNvPr>
          <p:cNvSpPr txBox="1"/>
          <p:nvPr/>
        </p:nvSpPr>
        <p:spPr>
          <a:xfrm>
            <a:off x="4438650" y="2287270"/>
            <a:ext cx="1950720" cy="41071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lang="en-US">
                <a:latin typeface="Barlow Condensed Light" panose="00000406000000000000" pitchFamily="2" charset="0"/>
              </a:rPr>
              <a:t>Shift to PWA</a:t>
            </a:r>
          </a:p>
          <a:p>
            <a:pPr>
              <a:spcAft>
                <a:spcPts val="600"/>
              </a:spcAft>
            </a:pPr>
            <a:r>
              <a:rPr lang="en-US">
                <a:latin typeface="Barlow Condensed Light" panose="00000406000000000000" pitchFamily="2" charset="0"/>
              </a:rPr>
              <a:t>Expanded from scheduling → full operations system</a:t>
            </a:r>
          </a:p>
          <a:p>
            <a:pPr>
              <a:spcAft>
                <a:spcPts val="600"/>
              </a:spcAft>
            </a:pPr>
            <a:endParaRPr lang="en-CA" b="1" i="0">
              <a:solidFill>
                <a:srgbClr val="34495E"/>
              </a:solidFill>
              <a:effectLst/>
              <a:latin typeface="-apple-system"/>
            </a:endParaRPr>
          </a:p>
          <a:p>
            <a:pPr>
              <a:spcAft>
                <a:spcPts val="600"/>
              </a:spcAft>
            </a:pPr>
            <a:endParaRPr lang="en-US">
              <a:latin typeface="Barlow Condensed Light" panose="00000406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F6159C-A638-5E80-F571-82872DF04609}"/>
              </a:ext>
            </a:extLst>
          </p:cNvPr>
          <p:cNvSpPr txBox="1"/>
          <p:nvPr/>
        </p:nvSpPr>
        <p:spPr>
          <a:xfrm>
            <a:off x="6573520" y="2208430"/>
            <a:ext cx="2199640" cy="497341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Barlow Condensed Light" panose="00000406000000000000" pitchFamily="2" charset="0"/>
              </a:rPr>
              <a:t>Role-based access control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Barlow Condensed Light" panose="00000406000000000000" pitchFamily="2" charset="0"/>
              </a:rPr>
              <a:t>Admin Web scheduling platform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Barlow Condensed Light" panose="00000406000000000000" pitchFamily="2" charset="0"/>
              </a:rPr>
              <a:t>Staff Interface via PWA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Barlow Condensed Light" panose="00000406000000000000" pitchFamily="2" charset="0"/>
              </a:rPr>
              <a:t>Time tracking via work sessions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Barlow Condensed Light" panose="00000406000000000000" pitchFamily="2" charset="0"/>
              </a:rPr>
              <a:t>Workforce management (Leave, Availability)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Barlow Condensed Light" panose="00000406000000000000" pitchFamily="2" charset="0"/>
              </a:rPr>
              <a:t>Payroll and pay statement generation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Barlow Condensed Light" panose="00000406000000000000" pitchFamily="2" charset="0"/>
              </a:rPr>
              <a:t>AI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66395C-574B-0035-A805-EE1D59280F1E}"/>
              </a:ext>
            </a:extLst>
          </p:cNvPr>
          <p:cNvSpPr txBox="1"/>
          <p:nvPr/>
        </p:nvSpPr>
        <p:spPr>
          <a:xfrm>
            <a:off x="313690" y="1562100"/>
            <a:ext cx="2088000" cy="661720"/>
          </a:xfrm>
          <a:prstGeom prst="homePlate">
            <a:avLst/>
          </a:prstGeom>
          <a:solidFill>
            <a:schemeClr val="bg1"/>
          </a:solidFill>
        </p:spPr>
        <p:txBody>
          <a:bodyPr wrap="none" rtlCol="0" anchor="ctr">
            <a:noAutofit/>
          </a:bodyPr>
          <a:lstStyle/>
          <a:p>
            <a:r>
              <a:rPr lang="en-CA" b="1" i="0">
                <a:solidFill>
                  <a:srgbClr val="34495E"/>
                </a:solidFill>
                <a:effectLst/>
                <a:latin typeface="-apple-system"/>
              </a:rPr>
              <a:t>🧩 </a:t>
            </a:r>
            <a:r>
              <a:rPr lang="en-CA" sz="2000" b="1" i="0">
                <a:solidFill>
                  <a:srgbClr val="4E6F05"/>
                </a:solidFill>
                <a:effectLst/>
                <a:latin typeface="Barlow Condensed Light" panose="00000406000000000000" pitchFamily="2" charset="0"/>
              </a:rPr>
              <a:t>Initial Proposal</a:t>
            </a:r>
            <a:endParaRPr lang="en-CA" b="1" i="0">
              <a:solidFill>
                <a:srgbClr val="4E6F05"/>
              </a:solidFill>
              <a:effectLst/>
              <a:latin typeface="Barlow Condensed Light" panose="00000406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D047B1-CC24-9975-77CF-6AC8BBD6E328}"/>
              </a:ext>
            </a:extLst>
          </p:cNvPr>
          <p:cNvSpPr txBox="1"/>
          <p:nvPr/>
        </p:nvSpPr>
        <p:spPr>
          <a:xfrm>
            <a:off x="2400300" y="1562100"/>
            <a:ext cx="2088000" cy="646331"/>
          </a:xfrm>
          <a:prstGeom prst="chevron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r>
              <a:rPr lang="en-CA" b="1" i="0">
                <a:solidFill>
                  <a:srgbClr val="4E6F05"/>
                </a:solidFill>
                <a:effectLst/>
                <a:latin typeface="Barlow Condensed Light" panose="00000406000000000000" pitchFamily="2" charset="0"/>
              </a:rPr>
              <a:t>🗣️ Partner Feedback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0E54DB-3AFC-6C4D-E92F-04DA4A23237E}"/>
              </a:ext>
            </a:extLst>
          </p:cNvPr>
          <p:cNvSpPr txBox="1"/>
          <p:nvPr/>
        </p:nvSpPr>
        <p:spPr>
          <a:xfrm>
            <a:off x="4446270" y="1577489"/>
            <a:ext cx="2088000" cy="646331"/>
          </a:xfrm>
          <a:prstGeom prst="chevron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l"/>
            <a:r>
              <a:rPr lang="en-CA" b="1" i="0">
                <a:solidFill>
                  <a:srgbClr val="4E6F05"/>
                </a:solidFill>
                <a:effectLst/>
                <a:latin typeface="Barlow Condensed Light" panose="00000406000000000000" pitchFamily="2" charset="0"/>
              </a:rPr>
              <a:t>⚙️ Transformation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5389DF-CF65-0791-719B-43C74CFF4C87}"/>
              </a:ext>
            </a:extLst>
          </p:cNvPr>
          <p:cNvSpPr txBox="1"/>
          <p:nvPr/>
        </p:nvSpPr>
        <p:spPr>
          <a:xfrm>
            <a:off x="6614160" y="1569794"/>
            <a:ext cx="2088000" cy="646331"/>
          </a:xfrm>
          <a:prstGeom prst="chevron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l"/>
            <a:r>
              <a:rPr lang="en-CA" b="1" i="0">
                <a:solidFill>
                  <a:srgbClr val="4E6F05"/>
                </a:solidFill>
                <a:effectLst/>
                <a:latin typeface="Barlow Condensed Light" panose="00000406000000000000" pitchFamily="2" charset="0"/>
              </a:rPr>
              <a:t>🚀 Final System</a:t>
            </a:r>
          </a:p>
        </p:txBody>
      </p:sp>
    </p:spTree>
    <p:extLst>
      <p:ext uri="{BB962C8B-B14F-4D97-AF65-F5344CB8AC3E}">
        <p14:creationId xmlns:p14="http://schemas.microsoft.com/office/powerpoint/2010/main" val="3128300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73F4F5F-ADF3-F93A-4E12-62F3933F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7033260" cy="914400"/>
          </a:xfrm>
        </p:spPr>
        <p:txBody>
          <a:bodyPr anchor="ctr">
            <a:normAutofit/>
          </a:bodyPr>
          <a:lstStyle/>
          <a:p>
            <a:pPr algn="l"/>
            <a:r>
              <a:rPr lang="fr-CA" b="1" err="1">
                <a:solidFill>
                  <a:schemeClr val="bg1"/>
                </a:solidFill>
              </a:rPr>
              <a:t>Technology</a:t>
            </a:r>
            <a:r>
              <a:rPr lang="fr-CA" b="1">
                <a:solidFill>
                  <a:schemeClr val="bg1"/>
                </a:solidFill>
              </a:rPr>
              <a:t> Stack</a:t>
            </a:r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38BEB687-FD76-2ACC-6343-17F8F4EF823B}"/>
              </a:ext>
            </a:extLst>
          </p:cNvPr>
          <p:cNvSpPr/>
          <p:nvPr/>
        </p:nvSpPr>
        <p:spPr>
          <a:xfrm>
            <a:off x="117011" y="1381462"/>
            <a:ext cx="1452880" cy="678815"/>
          </a:xfrm>
          <a:custGeom>
            <a:avLst/>
            <a:gdLst/>
            <a:ahLst/>
            <a:cxnLst/>
            <a:rect l="l" t="t" r="r" b="b"/>
            <a:pathLst>
              <a:path w="1452880" h="678814">
                <a:moveTo>
                  <a:pt x="678802" y="339394"/>
                </a:moveTo>
                <a:lnTo>
                  <a:pt x="675703" y="293344"/>
                </a:lnTo>
                <a:lnTo>
                  <a:pt x="666686" y="249174"/>
                </a:lnTo>
                <a:lnTo>
                  <a:pt x="652132" y="207289"/>
                </a:lnTo>
                <a:lnTo>
                  <a:pt x="632472" y="168097"/>
                </a:lnTo>
                <a:lnTo>
                  <a:pt x="608088" y="132003"/>
                </a:lnTo>
                <a:lnTo>
                  <a:pt x="579399" y="99402"/>
                </a:lnTo>
                <a:lnTo>
                  <a:pt x="546798" y="70713"/>
                </a:lnTo>
                <a:lnTo>
                  <a:pt x="510705" y="46329"/>
                </a:lnTo>
                <a:lnTo>
                  <a:pt x="471512" y="26670"/>
                </a:lnTo>
                <a:lnTo>
                  <a:pt x="429628" y="12115"/>
                </a:lnTo>
                <a:lnTo>
                  <a:pt x="385457" y="3098"/>
                </a:lnTo>
                <a:lnTo>
                  <a:pt x="339407" y="0"/>
                </a:lnTo>
                <a:lnTo>
                  <a:pt x="293344" y="3098"/>
                </a:lnTo>
                <a:lnTo>
                  <a:pt x="249174" y="12115"/>
                </a:lnTo>
                <a:lnTo>
                  <a:pt x="207289" y="26670"/>
                </a:lnTo>
                <a:lnTo>
                  <a:pt x="168097" y="46329"/>
                </a:lnTo>
                <a:lnTo>
                  <a:pt x="132003" y="70713"/>
                </a:lnTo>
                <a:lnTo>
                  <a:pt x="99402" y="99402"/>
                </a:lnTo>
                <a:lnTo>
                  <a:pt x="70713" y="132003"/>
                </a:lnTo>
                <a:lnTo>
                  <a:pt x="46342" y="168097"/>
                </a:lnTo>
                <a:lnTo>
                  <a:pt x="26670" y="207289"/>
                </a:lnTo>
                <a:lnTo>
                  <a:pt x="12128" y="249174"/>
                </a:lnTo>
                <a:lnTo>
                  <a:pt x="3098" y="293344"/>
                </a:lnTo>
                <a:lnTo>
                  <a:pt x="0" y="339394"/>
                </a:lnTo>
                <a:lnTo>
                  <a:pt x="3098" y="385457"/>
                </a:lnTo>
                <a:lnTo>
                  <a:pt x="12128" y="429628"/>
                </a:lnTo>
                <a:lnTo>
                  <a:pt x="26670" y="471512"/>
                </a:lnTo>
                <a:lnTo>
                  <a:pt x="46342" y="510705"/>
                </a:lnTo>
                <a:lnTo>
                  <a:pt x="70713" y="546798"/>
                </a:lnTo>
                <a:lnTo>
                  <a:pt x="99402" y="579386"/>
                </a:lnTo>
                <a:lnTo>
                  <a:pt x="132003" y="608088"/>
                </a:lnTo>
                <a:lnTo>
                  <a:pt x="168097" y="632460"/>
                </a:lnTo>
                <a:lnTo>
                  <a:pt x="207289" y="652132"/>
                </a:lnTo>
                <a:lnTo>
                  <a:pt x="249174" y="666673"/>
                </a:lnTo>
                <a:lnTo>
                  <a:pt x="293344" y="675703"/>
                </a:lnTo>
                <a:lnTo>
                  <a:pt x="339407" y="678802"/>
                </a:lnTo>
                <a:lnTo>
                  <a:pt x="385457" y="675703"/>
                </a:lnTo>
                <a:lnTo>
                  <a:pt x="429628" y="666673"/>
                </a:lnTo>
                <a:lnTo>
                  <a:pt x="471512" y="652132"/>
                </a:lnTo>
                <a:lnTo>
                  <a:pt x="510705" y="632460"/>
                </a:lnTo>
                <a:lnTo>
                  <a:pt x="546798" y="608088"/>
                </a:lnTo>
                <a:lnTo>
                  <a:pt x="579399" y="579386"/>
                </a:lnTo>
                <a:lnTo>
                  <a:pt x="608088" y="546798"/>
                </a:lnTo>
                <a:lnTo>
                  <a:pt x="632472" y="510705"/>
                </a:lnTo>
                <a:lnTo>
                  <a:pt x="652132" y="471512"/>
                </a:lnTo>
                <a:lnTo>
                  <a:pt x="666686" y="429628"/>
                </a:lnTo>
                <a:lnTo>
                  <a:pt x="675703" y="385457"/>
                </a:lnTo>
                <a:lnTo>
                  <a:pt x="678802" y="339394"/>
                </a:lnTo>
                <a:close/>
              </a:path>
              <a:path w="1452880" h="678814">
                <a:moveTo>
                  <a:pt x="1452600" y="339394"/>
                </a:moveTo>
                <a:lnTo>
                  <a:pt x="1449501" y="293344"/>
                </a:lnTo>
                <a:lnTo>
                  <a:pt x="1440472" y="249174"/>
                </a:lnTo>
                <a:lnTo>
                  <a:pt x="1425917" y="207289"/>
                </a:lnTo>
                <a:lnTo>
                  <a:pt x="1406258" y="168097"/>
                </a:lnTo>
                <a:lnTo>
                  <a:pt x="1381874" y="132003"/>
                </a:lnTo>
                <a:lnTo>
                  <a:pt x="1353185" y="99402"/>
                </a:lnTo>
                <a:lnTo>
                  <a:pt x="1320596" y="70713"/>
                </a:lnTo>
                <a:lnTo>
                  <a:pt x="1284503" y="46329"/>
                </a:lnTo>
                <a:lnTo>
                  <a:pt x="1245311" y="26670"/>
                </a:lnTo>
                <a:lnTo>
                  <a:pt x="1203426" y="12115"/>
                </a:lnTo>
                <a:lnTo>
                  <a:pt x="1159256" y="3098"/>
                </a:lnTo>
                <a:lnTo>
                  <a:pt x="1113193" y="0"/>
                </a:lnTo>
                <a:lnTo>
                  <a:pt x="1067142" y="3098"/>
                </a:lnTo>
                <a:lnTo>
                  <a:pt x="1022972" y="12115"/>
                </a:lnTo>
                <a:lnTo>
                  <a:pt x="981087" y="26670"/>
                </a:lnTo>
                <a:lnTo>
                  <a:pt x="941895" y="46329"/>
                </a:lnTo>
                <a:lnTo>
                  <a:pt x="905802" y="70713"/>
                </a:lnTo>
                <a:lnTo>
                  <a:pt x="873201" y="99402"/>
                </a:lnTo>
                <a:lnTo>
                  <a:pt x="844511" y="132003"/>
                </a:lnTo>
                <a:lnTo>
                  <a:pt x="820127" y="168097"/>
                </a:lnTo>
                <a:lnTo>
                  <a:pt x="800468" y="207289"/>
                </a:lnTo>
                <a:lnTo>
                  <a:pt x="785914" y="249174"/>
                </a:lnTo>
                <a:lnTo>
                  <a:pt x="776897" y="293344"/>
                </a:lnTo>
                <a:lnTo>
                  <a:pt x="773798" y="339394"/>
                </a:lnTo>
                <a:lnTo>
                  <a:pt x="776897" y="385457"/>
                </a:lnTo>
                <a:lnTo>
                  <a:pt x="785914" y="429628"/>
                </a:lnTo>
                <a:lnTo>
                  <a:pt x="800468" y="471512"/>
                </a:lnTo>
                <a:lnTo>
                  <a:pt x="820127" y="510705"/>
                </a:lnTo>
                <a:lnTo>
                  <a:pt x="844511" y="546798"/>
                </a:lnTo>
                <a:lnTo>
                  <a:pt x="873201" y="579386"/>
                </a:lnTo>
                <a:lnTo>
                  <a:pt x="905802" y="608088"/>
                </a:lnTo>
                <a:lnTo>
                  <a:pt x="941895" y="632460"/>
                </a:lnTo>
                <a:lnTo>
                  <a:pt x="981087" y="652132"/>
                </a:lnTo>
                <a:lnTo>
                  <a:pt x="1022972" y="666673"/>
                </a:lnTo>
                <a:lnTo>
                  <a:pt x="1067142" y="675703"/>
                </a:lnTo>
                <a:lnTo>
                  <a:pt x="1113193" y="678802"/>
                </a:lnTo>
                <a:lnTo>
                  <a:pt x="1159256" y="675703"/>
                </a:lnTo>
                <a:lnTo>
                  <a:pt x="1203426" y="666673"/>
                </a:lnTo>
                <a:lnTo>
                  <a:pt x="1245311" y="652132"/>
                </a:lnTo>
                <a:lnTo>
                  <a:pt x="1284503" y="632460"/>
                </a:lnTo>
                <a:lnTo>
                  <a:pt x="1320596" y="608088"/>
                </a:lnTo>
                <a:lnTo>
                  <a:pt x="1353185" y="579386"/>
                </a:lnTo>
                <a:lnTo>
                  <a:pt x="1381874" y="546798"/>
                </a:lnTo>
                <a:lnTo>
                  <a:pt x="1406258" y="510705"/>
                </a:lnTo>
                <a:lnTo>
                  <a:pt x="1425917" y="471512"/>
                </a:lnTo>
                <a:lnTo>
                  <a:pt x="1440472" y="429628"/>
                </a:lnTo>
                <a:lnTo>
                  <a:pt x="1449501" y="385457"/>
                </a:lnTo>
                <a:lnTo>
                  <a:pt x="1452600" y="3393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D077AA5B-E17F-93E4-8E3C-C05DA8196EDB}"/>
              </a:ext>
            </a:extLst>
          </p:cNvPr>
          <p:cNvSpPr/>
          <p:nvPr/>
        </p:nvSpPr>
        <p:spPr>
          <a:xfrm>
            <a:off x="252168" y="1590473"/>
            <a:ext cx="1099820" cy="277495"/>
          </a:xfrm>
          <a:custGeom>
            <a:avLst/>
            <a:gdLst/>
            <a:ahLst/>
            <a:cxnLst/>
            <a:rect l="l" t="t" r="r" b="b"/>
            <a:pathLst>
              <a:path w="1099819" h="277494">
                <a:moveTo>
                  <a:pt x="144272" y="119938"/>
                </a:moveTo>
                <a:lnTo>
                  <a:pt x="77851" y="119938"/>
                </a:lnTo>
                <a:lnTo>
                  <a:pt x="77851" y="196151"/>
                </a:lnTo>
                <a:lnTo>
                  <a:pt x="29692" y="136347"/>
                </a:lnTo>
                <a:lnTo>
                  <a:pt x="16471" y="119938"/>
                </a:lnTo>
                <a:lnTo>
                  <a:pt x="0" y="119938"/>
                </a:lnTo>
                <a:lnTo>
                  <a:pt x="0" y="196697"/>
                </a:lnTo>
                <a:lnTo>
                  <a:pt x="13182" y="196697"/>
                </a:lnTo>
                <a:lnTo>
                  <a:pt x="13182" y="136347"/>
                </a:lnTo>
                <a:lnTo>
                  <a:pt x="61747" y="196697"/>
                </a:lnTo>
                <a:lnTo>
                  <a:pt x="144272" y="196697"/>
                </a:lnTo>
                <a:lnTo>
                  <a:pt x="144272" y="196151"/>
                </a:lnTo>
                <a:lnTo>
                  <a:pt x="144272" y="184467"/>
                </a:lnTo>
                <a:lnTo>
                  <a:pt x="91033" y="184467"/>
                </a:lnTo>
                <a:lnTo>
                  <a:pt x="91033" y="164211"/>
                </a:lnTo>
                <a:lnTo>
                  <a:pt x="133858" y="164211"/>
                </a:lnTo>
                <a:lnTo>
                  <a:pt x="133858" y="151955"/>
                </a:lnTo>
                <a:lnTo>
                  <a:pt x="91033" y="151955"/>
                </a:lnTo>
                <a:lnTo>
                  <a:pt x="91033" y="132232"/>
                </a:lnTo>
                <a:lnTo>
                  <a:pt x="144272" y="132232"/>
                </a:lnTo>
                <a:lnTo>
                  <a:pt x="144272" y="119938"/>
                </a:lnTo>
                <a:close/>
              </a:path>
              <a:path w="1099819" h="277494">
                <a:moveTo>
                  <a:pt x="195135" y="174828"/>
                </a:moveTo>
                <a:lnTo>
                  <a:pt x="186512" y="164096"/>
                </a:lnTo>
                <a:lnTo>
                  <a:pt x="160197" y="196761"/>
                </a:lnTo>
                <a:lnTo>
                  <a:pt x="177495" y="196761"/>
                </a:lnTo>
                <a:lnTo>
                  <a:pt x="195135" y="174828"/>
                </a:lnTo>
                <a:close/>
              </a:path>
              <a:path w="1099819" h="277494">
                <a:moveTo>
                  <a:pt x="239255" y="120002"/>
                </a:moveTo>
                <a:lnTo>
                  <a:pt x="222034" y="120002"/>
                </a:lnTo>
                <a:lnTo>
                  <a:pt x="199745" y="147688"/>
                </a:lnTo>
                <a:lnTo>
                  <a:pt x="177444" y="120002"/>
                </a:lnTo>
                <a:lnTo>
                  <a:pt x="160197" y="120002"/>
                </a:lnTo>
                <a:lnTo>
                  <a:pt x="221957" y="196761"/>
                </a:lnTo>
                <a:lnTo>
                  <a:pt x="239255" y="196761"/>
                </a:lnTo>
                <a:lnTo>
                  <a:pt x="208368" y="158407"/>
                </a:lnTo>
                <a:lnTo>
                  <a:pt x="216992" y="147688"/>
                </a:lnTo>
                <a:lnTo>
                  <a:pt x="239255" y="120002"/>
                </a:lnTo>
                <a:close/>
              </a:path>
              <a:path w="1099819" h="277494">
                <a:moveTo>
                  <a:pt x="319951" y="119964"/>
                </a:moveTo>
                <a:lnTo>
                  <a:pt x="253530" y="119964"/>
                </a:lnTo>
                <a:lnTo>
                  <a:pt x="253530" y="132232"/>
                </a:lnTo>
                <a:lnTo>
                  <a:pt x="280428" y="132232"/>
                </a:lnTo>
                <a:lnTo>
                  <a:pt x="280428" y="196723"/>
                </a:lnTo>
                <a:lnTo>
                  <a:pt x="293598" y="196723"/>
                </a:lnTo>
                <a:lnTo>
                  <a:pt x="293598" y="132232"/>
                </a:lnTo>
                <a:lnTo>
                  <a:pt x="319951" y="132232"/>
                </a:lnTo>
                <a:lnTo>
                  <a:pt x="319951" y="119964"/>
                </a:lnTo>
                <a:close/>
              </a:path>
              <a:path w="1099819" h="277494">
                <a:moveTo>
                  <a:pt x="326390" y="191884"/>
                </a:moveTo>
                <a:lnTo>
                  <a:pt x="326034" y="191084"/>
                </a:lnTo>
                <a:lnTo>
                  <a:pt x="324650" y="189750"/>
                </a:lnTo>
                <a:lnTo>
                  <a:pt x="323850" y="189420"/>
                </a:lnTo>
                <a:lnTo>
                  <a:pt x="321945" y="189420"/>
                </a:lnTo>
                <a:lnTo>
                  <a:pt x="321132" y="189750"/>
                </a:lnTo>
                <a:lnTo>
                  <a:pt x="319760" y="191084"/>
                </a:lnTo>
                <a:lnTo>
                  <a:pt x="319417" y="191884"/>
                </a:lnTo>
                <a:lnTo>
                  <a:pt x="319519" y="194030"/>
                </a:lnTo>
                <a:lnTo>
                  <a:pt x="319760" y="194589"/>
                </a:lnTo>
                <a:lnTo>
                  <a:pt x="321132" y="195922"/>
                </a:lnTo>
                <a:lnTo>
                  <a:pt x="321945" y="196253"/>
                </a:lnTo>
                <a:lnTo>
                  <a:pt x="323545" y="196253"/>
                </a:lnTo>
                <a:lnTo>
                  <a:pt x="326390" y="191884"/>
                </a:lnTo>
                <a:close/>
              </a:path>
              <a:path w="1099819" h="277494">
                <a:moveTo>
                  <a:pt x="351243" y="163918"/>
                </a:moveTo>
                <a:lnTo>
                  <a:pt x="345401" y="163918"/>
                </a:lnTo>
                <a:lnTo>
                  <a:pt x="345389" y="187413"/>
                </a:lnTo>
                <a:lnTo>
                  <a:pt x="345211" y="188480"/>
                </a:lnTo>
                <a:lnTo>
                  <a:pt x="344525" y="190030"/>
                </a:lnTo>
                <a:lnTo>
                  <a:pt x="344030" y="190614"/>
                </a:lnTo>
                <a:lnTo>
                  <a:pt x="342722" y="191389"/>
                </a:lnTo>
                <a:lnTo>
                  <a:pt x="341922" y="191592"/>
                </a:lnTo>
                <a:lnTo>
                  <a:pt x="340118" y="191592"/>
                </a:lnTo>
                <a:lnTo>
                  <a:pt x="336550" y="187413"/>
                </a:lnTo>
                <a:lnTo>
                  <a:pt x="330695" y="187413"/>
                </a:lnTo>
                <a:lnTo>
                  <a:pt x="330695" y="189395"/>
                </a:lnTo>
                <a:lnTo>
                  <a:pt x="331139" y="191033"/>
                </a:lnTo>
                <a:lnTo>
                  <a:pt x="332917" y="193675"/>
                </a:lnTo>
                <a:lnTo>
                  <a:pt x="334124" y="194678"/>
                </a:lnTo>
                <a:lnTo>
                  <a:pt x="337019" y="195948"/>
                </a:lnTo>
                <a:lnTo>
                  <a:pt x="336842" y="195948"/>
                </a:lnTo>
                <a:lnTo>
                  <a:pt x="338861" y="196354"/>
                </a:lnTo>
                <a:lnTo>
                  <a:pt x="342836" y="196354"/>
                </a:lnTo>
                <a:lnTo>
                  <a:pt x="350113" y="191389"/>
                </a:lnTo>
                <a:lnTo>
                  <a:pt x="350786" y="190246"/>
                </a:lnTo>
                <a:lnTo>
                  <a:pt x="350837" y="190030"/>
                </a:lnTo>
                <a:lnTo>
                  <a:pt x="351231" y="188480"/>
                </a:lnTo>
                <a:lnTo>
                  <a:pt x="351243" y="163918"/>
                </a:lnTo>
                <a:close/>
              </a:path>
              <a:path w="1099819" h="277494">
                <a:moveTo>
                  <a:pt x="381368" y="188810"/>
                </a:moveTo>
                <a:lnTo>
                  <a:pt x="371830" y="177711"/>
                </a:lnTo>
                <a:lnTo>
                  <a:pt x="368122" y="176809"/>
                </a:lnTo>
                <a:lnTo>
                  <a:pt x="363270" y="173228"/>
                </a:lnTo>
                <a:lnTo>
                  <a:pt x="363283" y="171754"/>
                </a:lnTo>
                <a:lnTo>
                  <a:pt x="367931" y="168389"/>
                </a:lnTo>
                <a:lnTo>
                  <a:pt x="370890" y="168389"/>
                </a:lnTo>
                <a:lnTo>
                  <a:pt x="375259" y="172720"/>
                </a:lnTo>
                <a:lnTo>
                  <a:pt x="380923" y="172720"/>
                </a:lnTo>
                <a:lnTo>
                  <a:pt x="371538" y="163487"/>
                </a:lnTo>
                <a:lnTo>
                  <a:pt x="366966" y="163487"/>
                </a:lnTo>
                <a:lnTo>
                  <a:pt x="357314" y="175196"/>
                </a:lnTo>
                <a:lnTo>
                  <a:pt x="358076" y="177050"/>
                </a:lnTo>
                <a:lnTo>
                  <a:pt x="361175" y="179806"/>
                </a:lnTo>
                <a:lnTo>
                  <a:pt x="363296" y="180835"/>
                </a:lnTo>
                <a:lnTo>
                  <a:pt x="370814" y="182740"/>
                </a:lnTo>
                <a:lnTo>
                  <a:pt x="371843" y="183070"/>
                </a:lnTo>
                <a:lnTo>
                  <a:pt x="373583" y="183807"/>
                </a:lnTo>
                <a:lnTo>
                  <a:pt x="374256" y="184264"/>
                </a:lnTo>
                <a:lnTo>
                  <a:pt x="375234" y="185356"/>
                </a:lnTo>
                <a:lnTo>
                  <a:pt x="375297" y="185547"/>
                </a:lnTo>
                <a:lnTo>
                  <a:pt x="375475" y="186055"/>
                </a:lnTo>
                <a:lnTo>
                  <a:pt x="375475" y="187807"/>
                </a:lnTo>
                <a:lnTo>
                  <a:pt x="375234" y="188506"/>
                </a:lnTo>
                <a:lnTo>
                  <a:pt x="370281" y="191452"/>
                </a:lnTo>
                <a:lnTo>
                  <a:pt x="367779" y="191452"/>
                </a:lnTo>
                <a:lnTo>
                  <a:pt x="366649" y="191249"/>
                </a:lnTo>
                <a:lnTo>
                  <a:pt x="364324" y="190398"/>
                </a:lnTo>
                <a:lnTo>
                  <a:pt x="364490" y="190398"/>
                </a:lnTo>
                <a:lnTo>
                  <a:pt x="363880" y="189966"/>
                </a:lnTo>
                <a:lnTo>
                  <a:pt x="362673" y="188506"/>
                </a:lnTo>
                <a:lnTo>
                  <a:pt x="362318" y="187579"/>
                </a:lnTo>
                <a:lnTo>
                  <a:pt x="362242" y="186474"/>
                </a:lnTo>
                <a:lnTo>
                  <a:pt x="356450" y="186474"/>
                </a:lnTo>
                <a:lnTo>
                  <a:pt x="366534" y="196405"/>
                </a:lnTo>
                <a:lnTo>
                  <a:pt x="371652" y="196405"/>
                </a:lnTo>
                <a:lnTo>
                  <a:pt x="381025" y="189966"/>
                </a:lnTo>
                <a:lnTo>
                  <a:pt x="381368" y="188810"/>
                </a:lnTo>
                <a:close/>
              </a:path>
              <a:path w="1099819" h="277494">
                <a:moveTo>
                  <a:pt x="1099324" y="125209"/>
                </a:moveTo>
                <a:lnTo>
                  <a:pt x="1096949" y="112407"/>
                </a:lnTo>
                <a:lnTo>
                  <a:pt x="1088377" y="102577"/>
                </a:lnTo>
                <a:lnTo>
                  <a:pt x="1075029" y="98653"/>
                </a:lnTo>
                <a:lnTo>
                  <a:pt x="963256" y="98653"/>
                </a:lnTo>
                <a:lnTo>
                  <a:pt x="962685" y="11607"/>
                </a:lnTo>
                <a:lnTo>
                  <a:pt x="960221" y="4381"/>
                </a:lnTo>
                <a:lnTo>
                  <a:pt x="954430" y="279"/>
                </a:lnTo>
                <a:lnTo>
                  <a:pt x="947343" y="0"/>
                </a:lnTo>
                <a:lnTo>
                  <a:pt x="940968" y="4229"/>
                </a:lnTo>
                <a:lnTo>
                  <a:pt x="833602" y="139280"/>
                </a:lnTo>
                <a:lnTo>
                  <a:pt x="828370" y="152184"/>
                </a:lnTo>
                <a:lnTo>
                  <a:pt x="830732" y="164998"/>
                </a:lnTo>
                <a:lnTo>
                  <a:pt x="839304" y="174828"/>
                </a:lnTo>
                <a:lnTo>
                  <a:pt x="852678" y="178752"/>
                </a:lnTo>
                <a:lnTo>
                  <a:pt x="963714" y="178752"/>
                </a:lnTo>
                <a:lnTo>
                  <a:pt x="965022" y="265811"/>
                </a:lnTo>
                <a:lnTo>
                  <a:pt x="967473" y="273037"/>
                </a:lnTo>
                <a:lnTo>
                  <a:pt x="973264" y="277126"/>
                </a:lnTo>
                <a:lnTo>
                  <a:pt x="980363" y="277406"/>
                </a:lnTo>
                <a:lnTo>
                  <a:pt x="986726" y="273177"/>
                </a:lnTo>
                <a:lnTo>
                  <a:pt x="1094092" y="138099"/>
                </a:lnTo>
                <a:lnTo>
                  <a:pt x="1099324" y="1252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6139573-F2BC-BA23-9989-6770A1725EEE}"/>
              </a:ext>
            </a:extLst>
          </p:cNvPr>
          <p:cNvGrpSpPr/>
          <p:nvPr/>
        </p:nvGrpSpPr>
        <p:grpSpPr>
          <a:xfrm>
            <a:off x="2294462" y="1381451"/>
            <a:ext cx="1127125" cy="965558"/>
            <a:chOff x="4683550" y="1381451"/>
            <a:chExt cx="1127125" cy="965558"/>
          </a:xfrm>
        </p:grpSpPr>
        <p:sp>
          <p:nvSpPr>
            <p:cNvPr id="29" name="object 14">
              <a:extLst>
                <a:ext uri="{FF2B5EF4-FFF2-40B4-BE49-F238E27FC236}">
                  <a16:creationId xmlns:a16="http://schemas.microsoft.com/office/drawing/2014/main" id="{3384D09B-08C5-4873-D2E8-0DD501DA504F}"/>
                </a:ext>
              </a:extLst>
            </p:cNvPr>
            <p:cNvSpPr/>
            <p:nvPr/>
          </p:nvSpPr>
          <p:spPr>
            <a:xfrm>
              <a:off x="4891433" y="1381451"/>
              <a:ext cx="678815" cy="678815"/>
            </a:xfrm>
            <a:custGeom>
              <a:avLst/>
              <a:gdLst/>
              <a:ahLst/>
              <a:cxnLst/>
              <a:rect l="l" t="t" r="r" b="b"/>
              <a:pathLst>
                <a:path w="678815" h="678814">
                  <a:moveTo>
                    <a:pt x="339396" y="678806"/>
                  </a:moveTo>
                  <a:lnTo>
                    <a:pt x="293342" y="675708"/>
                  </a:lnTo>
                  <a:lnTo>
                    <a:pt x="249171" y="666682"/>
                  </a:lnTo>
                  <a:lnTo>
                    <a:pt x="207288" y="652134"/>
                  </a:lnTo>
                  <a:lnTo>
                    <a:pt x="168096" y="632468"/>
                  </a:lnTo>
                  <a:lnTo>
                    <a:pt x="132001" y="608087"/>
                  </a:lnTo>
                  <a:lnTo>
                    <a:pt x="99407" y="579397"/>
                  </a:lnTo>
                  <a:lnTo>
                    <a:pt x="70717" y="546802"/>
                  </a:lnTo>
                  <a:lnTo>
                    <a:pt x="46337" y="510706"/>
                  </a:lnTo>
                  <a:lnTo>
                    <a:pt x="26671" y="471514"/>
                  </a:lnTo>
                  <a:lnTo>
                    <a:pt x="12123" y="429630"/>
                  </a:lnTo>
                  <a:lnTo>
                    <a:pt x="3098" y="385458"/>
                  </a:lnTo>
                  <a:lnTo>
                    <a:pt x="0" y="339403"/>
                  </a:lnTo>
                  <a:lnTo>
                    <a:pt x="3098" y="293348"/>
                  </a:lnTo>
                  <a:lnTo>
                    <a:pt x="12123" y="249176"/>
                  </a:lnTo>
                  <a:lnTo>
                    <a:pt x="26671" y="207292"/>
                  </a:lnTo>
                  <a:lnTo>
                    <a:pt x="46337" y="168100"/>
                  </a:lnTo>
                  <a:lnTo>
                    <a:pt x="70717" y="132004"/>
                  </a:lnTo>
                  <a:lnTo>
                    <a:pt x="99407" y="99409"/>
                  </a:lnTo>
                  <a:lnTo>
                    <a:pt x="132001" y="70719"/>
                  </a:lnTo>
                  <a:lnTo>
                    <a:pt x="168096" y="46338"/>
                  </a:lnTo>
                  <a:lnTo>
                    <a:pt x="207288" y="26672"/>
                  </a:lnTo>
                  <a:lnTo>
                    <a:pt x="249171" y="12123"/>
                  </a:lnTo>
                  <a:lnTo>
                    <a:pt x="293342" y="3098"/>
                  </a:lnTo>
                  <a:lnTo>
                    <a:pt x="339396" y="0"/>
                  </a:lnTo>
                  <a:lnTo>
                    <a:pt x="385450" y="3098"/>
                  </a:lnTo>
                  <a:lnTo>
                    <a:pt x="429622" y="12123"/>
                  </a:lnTo>
                  <a:lnTo>
                    <a:pt x="471506" y="26672"/>
                  </a:lnTo>
                  <a:lnTo>
                    <a:pt x="510699" y="46338"/>
                  </a:lnTo>
                  <a:lnTo>
                    <a:pt x="546796" y="70719"/>
                  </a:lnTo>
                  <a:lnTo>
                    <a:pt x="579392" y="99409"/>
                  </a:lnTo>
                  <a:lnTo>
                    <a:pt x="608083" y="132004"/>
                  </a:lnTo>
                  <a:lnTo>
                    <a:pt x="632465" y="168100"/>
                  </a:lnTo>
                  <a:lnTo>
                    <a:pt x="652132" y="207292"/>
                  </a:lnTo>
                  <a:lnTo>
                    <a:pt x="666681" y="249176"/>
                  </a:lnTo>
                  <a:lnTo>
                    <a:pt x="675707" y="293348"/>
                  </a:lnTo>
                  <a:lnTo>
                    <a:pt x="678806" y="339403"/>
                  </a:lnTo>
                  <a:lnTo>
                    <a:pt x="675707" y="385458"/>
                  </a:lnTo>
                  <a:lnTo>
                    <a:pt x="666681" y="429630"/>
                  </a:lnTo>
                  <a:lnTo>
                    <a:pt x="652132" y="471514"/>
                  </a:lnTo>
                  <a:lnTo>
                    <a:pt x="632465" y="510706"/>
                  </a:lnTo>
                  <a:lnTo>
                    <a:pt x="608083" y="546802"/>
                  </a:lnTo>
                  <a:lnTo>
                    <a:pt x="579392" y="579397"/>
                  </a:lnTo>
                  <a:lnTo>
                    <a:pt x="546796" y="608087"/>
                  </a:lnTo>
                  <a:lnTo>
                    <a:pt x="510699" y="632468"/>
                  </a:lnTo>
                  <a:lnTo>
                    <a:pt x="471506" y="652134"/>
                  </a:lnTo>
                  <a:lnTo>
                    <a:pt x="429622" y="666682"/>
                  </a:lnTo>
                  <a:lnTo>
                    <a:pt x="385450" y="675708"/>
                  </a:lnTo>
                  <a:lnTo>
                    <a:pt x="339396" y="6788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15">
              <a:extLst>
                <a:ext uri="{FF2B5EF4-FFF2-40B4-BE49-F238E27FC236}">
                  <a16:creationId xmlns:a16="http://schemas.microsoft.com/office/drawing/2014/main" id="{7C13939F-F00D-71C0-51EB-9F866316F51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4701" y="1564344"/>
              <a:ext cx="310927" cy="310928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6AD0366-3091-B169-E1F0-E5B216B06831}"/>
                </a:ext>
              </a:extLst>
            </p:cNvPr>
            <p:cNvSpPr txBox="1"/>
            <p:nvPr/>
          </p:nvSpPr>
          <p:spPr>
            <a:xfrm>
              <a:off x="4683550" y="2070010"/>
              <a:ext cx="11271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A" sz="1200" b="1">
                  <a:latin typeface="Barlow Condensed Light" panose="00000406000000000000" pitchFamily="2" charset="0"/>
                  <a:cs typeface="Tahoma"/>
                </a:rPr>
                <a:t>TYPESCRIPT</a:t>
              </a:r>
              <a:endParaRPr lang="en-GB" sz="1200"/>
            </a:p>
          </p:txBody>
        </p:sp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05FD3DBA-AF64-12B8-2557-6694FE9B7781}"/>
              </a:ext>
            </a:extLst>
          </p:cNvPr>
          <p:cNvGrpSpPr/>
          <p:nvPr/>
        </p:nvGrpSpPr>
        <p:grpSpPr>
          <a:xfrm>
            <a:off x="4790016" y="1390055"/>
            <a:ext cx="1127125" cy="955825"/>
            <a:chOff x="3895624" y="1381451"/>
            <a:chExt cx="1127125" cy="955825"/>
          </a:xfrm>
        </p:grpSpPr>
        <p:sp>
          <p:nvSpPr>
            <p:cNvPr id="27" name="object 12">
              <a:extLst>
                <a:ext uri="{FF2B5EF4-FFF2-40B4-BE49-F238E27FC236}">
                  <a16:creationId xmlns:a16="http://schemas.microsoft.com/office/drawing/2014/main" id="{05FC54C5-A9BC-A908-225B-B2079D1376EC}"/>
                </a:ext>
              </a:extLst>
            </p:cNvPr>
            <p:cNvSpPr/>
            <p:nvPr/>
          </p:nvSpPr>
          <p:spPr>
            <a:xfrm>
              <a:off x="4100378" y="1381451"/>
              <a:ext cx="678815" cy="678815"/>
            </a:xfrm>
            <a:custGeom>
              <a:avLst/>
              <a:gdLst/>
              <a:ahLst/>
              <a:cxnLst/>
              <a:rect l="l" t="t" r="r" b="b"/>
              <a:pathLst>
                <a:path w="678815" h="678814">
                  <a:moveTo>
                    <a:pt x="339396" y="678806"/>
                  </a:moveTo>
                  <a:lnTo>
                    <a:pt x="293342" y="675708"/>
                  </a:lnTo>
                  <a:lnTo>
                    <a:pt x="249171" y="666682"/>
                  </a:lnTo>
                  <a:lnTo>
                    <a:pt x="207288" y="652134"/>
                  </a:lnTo>
                  <a:lnTo>
                    <a:pt x="168096" y="632468"/>
                  </a:lnTo>
                  <a:lnTo>
                    <a:pt x="132001" y="608087"/>
                  </a:lnTo>
                  <a:lnTo>
                    <a:pt x="99407" y="579397"/>
                  </a:lnTo>
                  <a:lnTo>
                    <a:pt x="70717" y="546802"/>
                  </a:lnTo>
                  <a:lnTo>
                    <a:pt x="46337" y="510706"/>
                  </a:lnTo>
                  <a:lnTo>
                    <a:pt x="26671" y="471514"/>
                  </a:lnTo>
                  <a:lnTo>
                    <a:pt x="12123" y="429630"/>
                  </a:lnTo>
                  <a:lnTo>
                    <a:pt x="3098" y="385458"/>
                  </a:lnTo>
                  <a:lnTo>
                    <a:pt x="0" y="339403"/>
                  </a:lnTo>
                  <a:lnTo>
                    <a:pt x="3098" y="293348"/>
                  </a:lnTo>
                  <a:lnTo>
                    <a:pt x="12123" y="249176"/>
                  </a:lnTo>
                  <a:lnTo>
                    <a:pt x="26671" y="207292"/>
                  </a:lnTo>
                  <a:lnTo>
                    <a:pt x="46337" y="168100"/>
                  </a:lnTo>
                  <a:lnTo>
                    <a:pt x="70717" y="132004"/>
                  </a:lnTo>
                  <a:lnTo>
                    <a:pt x="99407" y="99409"/>
                  </a:lnTo>
                  <a:lnTo>
                    <a:pt x="132001" y="70719"/>
                  </a:lnTo>
                  <a:lnTo>
                    <a:pt x="168096" y="46338"/>
                  </a:lnTo>
                  <a:lnTo>
                    <a:pt x="207288" y="26672"/>
                  </a:lnTo>
                  <a:lnTo>
                    <a:pt x="249171" y="12123"/>
                  </a:lnTo>
                  <a:lnTo>
                    <a:pt x="293342" y="3098"/>
                  </a:lnTo>
                  <a:lnTo>
                    <a:pt x="339396" y="0"/>
                  </a:lnTo>
                  <a:lnTo>
                    <a:pt x="385453" y="3098"/>
                  </a:lnTo>
                  <a:lnTo>
                    <a:pt x="429626" y="12123"/>
                  </a:lnTo>
                  <a:lnTo>
                    <a:pt x="471512" y="26672"/>
                  </a:lnTo>
                  <a:lnTo>
                    <a:pt x="510705" y="46338"/>
                  </a:lnTo>
                  <a:lnTo>
                    <a:pt x="546802" y="70719"/>
                  </a:lnTo>
                  <a:lnTo>
                    <a:pt x="579397" y="99409"/>
                  </a:lnTo>
                  <a:lnTo>
                    <a:pt x="608087" y="132004"/>
                  </a:lnTo>
                  <a:lnTo>
                    <a:pt x="632468" y="168100"/>
                  </a:lnTo>
                  <a:lnTo>
                    <a:pt x="652134" y="207292"/>
                  </a:lnTo>
                  <a:lnTo>
                    <a:pt x="666682" y="249176"/>
                  </a:lnTo>
                  <a:lnTo>
                    <a:pt x="675708" y="293348"/>
                  </a:lnTo>
                  <a:lnTo>
                    <a:pt x="678806" y="339403"/>
                  </a:lnTo>
                  <a:lnTo>
                    <a:pt x="675708" y="385458"/>
                  </a:lnTo>
                  <a:lnTo>
                    <a:pt x="666682" y="429630"/>
                  </a:lnTo>
                  <a:lnTo>
                    <a:pt x="652134" y="471514"/>
                  </a:lnTo>
                  <a:lnTo>
                    <a:pt x="632468" y="510706"/>
                  </a:lnTo>
                  <a:lnTo>
                    <a:pt x="608087" y="546802"/>
                  </a:lnTo>
                  <a:lnTo>
                    <a:pt x="579397" y="579397"/>
                  </a:lnTo>
                  <a:lnTo>
                    <a:pt x="546802" y="608087"/>
                  </a:lnTo>
                  <a:lnTo>
                    <a:pt x="510705" y="632468"/>
                  </a:lnTo>
                  <a:lnTo>
                    <a:pt x="471512" y="652134"/>
                  </a:lnTo>
                  <a:lnTo>
                    <a:pt x="429626" y="666682"/>
                  </a:lnTo>
                  <a:lnTo>
                    <a:pt x="385453" y="675708"/>
                  </a:lnTo>
                  <a:lnTo>
                    <a:pt x="339396" y="6788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13">
              <a:extLst>
                <a:ext uri="{FF2B5EF4-FFF2-40B4-BE49-F238E27FC236}">
                  <a16:creationId xmlns:a16="http://schemas.microsoft.com/office/drawing/2014/main" id="{7CD11339-27FA-2CA7-FF4E-220195AD0644}"/>
                </a:ext>
              </a:extLst>
            </p:cNvPr>
            <p:cNvSpPr/>
            <p:nvPr/>
          </p:nvSpPr>
          <p:spPr>
            <a:xfrm>
              <a:off x="4278831" y="1557726"/>
              <a:ext cx="323215" cy="326390"/>
            </a:xfrm>
            <a:custGeom>
              <a:avLst/>
              <a:gdLst/>
              <a:ahLst/>
              <a:cxnLst/>
              <a:rect l="l" t="t" r="r" b="b"/>
              <a:pathLst>
                <a:path w="323215" h="326389">
                  <a:moveTo>
                    <a:pt x="187391" y="326390"/>
                  </a:moveTo>
                  <a:lnTo>
                    <a:pt x="167171" y="326390"/>
                  </a:lnTo>
                  <a:lnTo>
                    <a:pt x="150319" y="322580"/>
                  </a:lnTo>
                  <a:lnTo>
                    <a:pt x="117234" y="299720"/>
                  </a:lnTo>
                  <a:lnTo>
                    <a:pt x="82805" y="299720"/>
                  </a:lnTo>
                  <a:lnTo>
                    <a:pt x="70335" y="295910"/>
                  </a:lnTo>
                  <a:lnTo>
                    <a:pt x="62402" y="292100"/>
                  </a:lnTo>
                  <a:lnTo>
                    <a:pt x="58598" y="289560"/>
                  </a:lnTo>
                  <a:lnTo>
                    <a:pt x="51317" y="285750"/>
                  </a:lnTo>
                  <a:lnTo>
                    <a:pt x="47885" y="283210"/>
                  </a:lnTo>
                  <a:lnTo>
                    <a:pt x="41436" y="276860"/>
                  </a:lnTo>
                  <a:lnTo>
                    <a:pt x="38460" y="274320"/>
                  </a:lnTo>
                  <a:lnTo>
                    <a:pt x="33004" y="266700"/>
                  </a:lnTo>
                  <a:lnTo>
                    <a:pt x="30557" y="264160"/>
                  </a:lnTo>
                  <a:lnTo>
                    <a:pt x="28393" y="260350"/>
                  </a:lnTo>
                  <a:lnTo>
                    <a:pt x="17207" y="222250"/>
                  </a:lnTo>
                  <a:lnTo>
                    <a:pt x="17089" y="215900"/>
                  </a:lnTo>
                  <a:lnTo>
                    <a:pt x="18353" y="204470"/>
                  </a:lnTo>
                  <a:lnTo>
                    <a:pt x="19588" y="198120"/>
                  </a:lnTo>
                  <a:lnTo>
                    <a:pt x="21424" y="193040"/>
                  </a:lnTo>
                  <a:lnTo>
                    <a:pt x="18509" y="189230"/>
                  </a:lnTo>
                  <a:lnTo>
                    <a:pt x="4055" y="162560"/>
                  </a:lnTo>
                  <a:lnTo>
                    <a:pt x="1803" y="154940"/>
                  </a:lnTo>
                  <a:lnTo>
                    <a:pt x="1014" y="149860"/>
                  </a:lnTo>
                  <a:lnTo>
                    <a:pt x="109" y="142240"/>
                  </a:lnTo>
                  <a:lnTo>
                    <a:pt x="0" y="137160"/>
                  </a:lnTo>
                  <a:lnTo>
                    <a:pt x="464" y="128270"/>
                  </a:lnTo>
                  <a:lnTo>
                    <a:pt x="11296" y="96520"/>
                  </a:lnTo>
                  <a:lnTo>
                    <a:pt x="14171" y="91440"/>
                  </a:lnTo>
                  <a:lnTo>
                    <a:pt x="17546" y="86360"/>
                  </a:lnTo>
                  <a:lnTo>
                    <a:pt x="25296" y="77470"/>
                  </a:lnTo>
                  <a:lnTo>
                    <a:pt x="29584" y="73660"/>
                  </a:lnTo>
                  <a:lnTo>
                    <a:pt x="38986" y="67310"/>
                  </a:lnTo>
                  <a:lnTo>
                    <a:pt x="43993" y="63500"/>
                  </a:lnTo>
                  <a:lnTo>
                    <a:pt x="54622" y="59690"/>
                  </a:lnTo>
                  <a:lnTo>
                    <a:pt x="60124" y="57150"/>
                  </a:lnTo>
                  <a:lnTo>
                    <a:pt x="65813" y="55880"/>
                  </a:lnTo>
                  <a:lnTo>
                    <a:pt x="66935" y="53340"/>
                  </a:lnTo>
                  <a:lnTo>
                    <a:pt x="68276" y="49530"/>
                  </a:lnTo>
                  <a:lnTo>
                    <a:pt x="71397" y="43180"/>
                  </a:lnTo>
                  <a:lnTo>
                    <a:pt x="73163" y="40640"/>
                  </a:lnTo>
                  <a:lnTo>
                    <a:pt x="77107" y="34290"/>
                  </a:lnTo>
                  <a:lnTo>
                    <a:pt x="79268" y="30480"/>
                  </a:lnTo>
                  <a:lnTo>
                    <a:pt x="83969" y="25400"/>
                  </a:lnTo>
                  <a:lnTo>
                    <a:pt x="86488" y="22860"/>
                  </a:lnTo>
                  <a:lnTo>
                    <a:pt x="91864" y="17780"/>
                  </a:lnTo>
                  <a:lnTo>
                    <a:pt x="94698" y="16510"/>
                  </a:lnTo>
                  <a:lnTo>
                    <a:pt x="100658" y="11430"/>
                  </a:lnTo>
                  <a:lnTo>
                    <a:pt x="103759" y="10160"/>
                  </a:lnTo>
                  <a:lnTo>
                    <a:pt x="110201" y="6350"/>
                  </a:lnTo>
                  <a:lnTo>
                    <a:pt x="113515" y="5080"/>
                  </a:lnTo>
                  <a:lnTo>
                    <a:pt x="120329" y="2540"/>
                  </a:lnTo>
                  <a:lnTo>
                    <a:pt x="123800" y="2540"/>
                  </a:lnTo>
                  <a:lnTo>
                    <a:pt x="130869" y="0"/>
                  </a:lnTo>
                  <a:lnTo>
                    <a:pt x="173506" y="5080"/>
                  </a:lnTo>
                  <a:lnTo>
                    <a:pt x="186516" y="11430"/>
                  </a:lnTo>
                  <a:lnTo>
                    <a:pt x="192573" y="15240"/>
                  </a:lnTo>
                  <a:lnTo>
                    <a:pt x="195460" y="16510"/>
                  </a:lnTo>
                  <a:lnTo>
                    <a:pt x="199577" y="20320"/>
                  </a:lnTo>
                  <a:lnTo>
                    <a:pt x="140739" y="20320"/>
                  </a:lnTo>
                  <a:lnTo>
                    <a:pt x="123715" y="24130"/>
                  </a:lnTo>
                  <a:lnTo>
                    <a:pt x="89578" y="54610"/>
                  </a:lnTo>
                  <a:lnTo>
                    <a:pt x="83110" y="76200"/>
                  </a:lnTo>
                  <a:lnTo>
                    <a:pt x="83112" y="80010"/>
                  </a:lnTo>
                  <a:lnTo>
                    <a:pt x="62071" y="80010"/>
                  </a:lnTo>
                  <a:lnTo>
                    <a:pt x="29812" y="106680"/>
                  </a:lnTo>
                  <a:lnTo>
                    <a:pt x="21641" y="133350"/>
                  </a:lnTo>
                  <a:lnTo>
                    <a:pt x="21666" y="139700"/>
                  </a:lnTo>
                  <a:lnTo>
                    <a:pt x="36755" y="177800"/>
                  </a:lnTo>
                  <a:lnTo>
                    <a:pt x="39490" y="180340"/>
                  </a:lnTo>
                  <a:lnTo>
                    <a:pt x="45533" y="186690"/>
                  </a:lnTo>
                  <a:lnTo>
                    <a:pt x="48784" y="187960"/>
                  </a:lnTo>
                  <a:lnTo>
                    <a:pt x="83622" y="208280"/>
                  </a:lnTo>
                  <a:lnTo>
                    <a:pt x="39683" y="208280"/>
                  </a:lnTo>
                  <a:lnTo>
                    <a:pt x="38443" y="214630"/>
                  </a:lnTo>
                  <a:lnTo>
                    <a:pt x="38449" y="222250"/>
                  </a:lnTo>
                  <a:lnTo>
                    <a:pt x="40955" y="236220"/>
                  </a:lnTo>
                  <a:lnTo>
                    <a:pt x="43379" y="242570"/>
                  </a:lnTo>
                  <a:lnTo>
                    <a:pt x="46973" y="248920"/>
                  </a:lnTo>
                  <a:lnTo>
                    <a:pt x="48988" y="252730"/>
                  </a:lnTo>
                  <a:lnTo>
                    <a:pt x="51323" y="255270"/>
                  </a:lnTo>
                  <a:lnTo>
                    <a:pt x="56633" y="261620"/>
                  </a:lnTo>
                  <a:lnTo>
                    <a:pt x="59557" y="264160"/>
                  </a:lnTo>
                  <a:lnTo>
                    <a:pt x="88088" y="278130"/>
                  </a:lnTo>
                  <a:lnTo>
                    <a:pt x="92039" y="279400"/>
                  </a:lnTo>
                  <a:lnTo>
                    <a:pt x="159244" y="279400"/>
                  </a:lnTo>
                  <a:lnTo>
                    <a:pt x="141428" y="289560"/>
                  </a:lnTo>
                  <a:lnTo>
                    <a:pt x="139493" y="290830"/>
                  </a:lnTo>
                  <a:lnTo>
                    <a:pt x="144994" y="295910"/>
                  </a:lnTo>
                  <a:lnTo>
                    <a:pt x="151114" y="299720"/>
                  </a:lnTo>
                  <a:lnTo>
                    <a:pt x="164596" y="303530"/>
                  </a:lnTo>
                  <a:lnTo>
                    <a:pt x="171551" y="304800"/>
                  </a:lnTo>
                  <a:lnTo>
                    <a:pt x="235463" y="304800"/>
                  </a:lnTo>
                  <a:lnTo>
                    <a:pt x="234236" y="306070"/>
                  </a:lnTo>
                  <a:lnTo>
                    <a:pt x="195982" y="325120"/>
                  </a:lnTo>
                  <a:lnTo>
                    <a:pt x="187391" y="326390"/>
                  </a:lnTo>
                  <a:close/>
                </a:path>
                <a:path w="323215" h="326389">
                  <a:moveTo>
                    <a:pt x="126189" y="175260"/>
                  </a:moveTo>
                  <a:lnTo>
                    <a:pt x="111168" y="175260"/>
                  </a:lnTo>
                  <a:lnTo>
                    <a:pt x="111244" y="81280"/>
                  </a:lnTo>
                  <a:lnTo>
                    <a:pt x="181750" y="36830"/>
                  </a:lnTo>
                  <a:lnTo>
                    <a:pt x="183687" y="35560"/>
                  </a:lnTo>
                  <a:lnTo>
                    <a:pt x="179208" y="31750"/>
                  </a:lnTo>
                  <a:lnTo>
                    <a:pt x="174299" y="27940"/>
                  </a:lnTo>
                  <a:lnTo>
                    <a:pt x="163618" y="24130"/>
                  </a:lnTo>
                  <a:lnTo>
                    <a:pt x="146505" y="20320"/>
                  </a:lnTo>
                  <a:lnTo>
                    <a:pt x="199577" y="20320"/>
                  </a:lnTo>
                  <a:lnTo>
                    <a:pt x="200950" y="21590"/>
                  </a:lnTo>
                  <a:lnTo>
                    <a:pt x="203530" y="24130"/>
                  </a:lnTo>
                  <a:lnTo>
                    <a:pt x="205945" y="26670"/>
                  </a:lnTo>
                  <a:lnTo>
                    <a:pt x="240313" y="26670"/>
                  </a:lnTo>
                  <a:lnTo>
                    <a:pt x="252815" y="30480"/>
                  </a:lnTo>
                  <a:lnTo>
                    <a:pt x="260742" y="34290"/>
                  </a:lnTo>
                  <a:lnTo>
                    <a:pt x="264544" y="35560"/>
                  </a:lnTo>
                  <a:lnTo>
                    <a:pt x="271820" y="40640"/>
                  </a:lnTo>
                  <a:lnTo>
                    <a:pt x="275248" y="43180"/>
                  </a:lnTo>
                  <a:lnTo>
                    <a:pt x="277826" y="45720"/>
                  </a:lnTo>
                  <a:lnTo>
                    <a:pt x="219921" y="45720"/>
                  </a:lnTo>
                  <a:lnTo>
                    <a:pt x="202863" y="49530"/>
                  </a:lnTo>
                  <a:lnTo>
                    <a:pt x="197511" y="52070"/>
                  </a:lnTo>
                  <a:lnTo>
                    <a:pt x="126590" y="92710"/>
                  </a:lnTo>
                  <a:lnTo>
                    <a:pt x="126166" y="92710"/>
                  </a:lnTo>
                  <a:lnTo>
                    <a:pt x="126203" y="125730"/>
                  </a:lnTo>
                  <a:lnTo>
                    <a:pt x="154967" y="125730"/>
                  </a:lnTo>
                  <a:lnTo>
                    <a:pt x="126136" y="142240"/>
                  </a:lnTo>
                  <a:lnTo>
                    <a:pt x="126189" y="175260"/>
                  </a:lnTo>
                  <a:close/>
                </a:path>
                <a:path w="323215" h="326389">
                  <a:moveTo>
                    <a:pt x="240313" y="26670"/>
                  </a:moveTo>
                  <a:lnTo>
                    <a:pt x="205945" y="26670"/>
                  </a:lnTo>
                  <a:lnTo>
                    <a:pt x="210188" y="25400"/>
                  </a:lnTo>
                  <a:lnTo>
                    <a:pt x="236100" y="25400"/>
                  </a:lnTo>
                  <a:lnTo>
                    <a:pt x="240313" y="26670"/>
                  </a:lnTo>
                  <a:close/>
                </a:path>
                <a:path w="323215" h="326389">
                  <a:moveTo>
                    <a:pt x="305228" y="118110"/>
                  </a:moveTo>
                  <a:lnTo>
                    <a:pt x="283560" y="118110"/>
                  </a:lnTo>
                  <a:lnTo>
                    <a:pt x="284548" y="113030"/>
                  </a:lnTo>
                  <a:lnTo>
                    <a:pt x="284614" y="110490"/>
                  </a:lnTo>
                  <a:lnTo>
                    <a:pt x="274505" y="73660"/>
                  </a:lnTo>
                  <a:lnTo>
                    <a:pt x="237230" y="48260"/>
                  </a:lnTo>
                  <a:lnTo>
                    <a:pt x="219921" y="45720"/>
                  </a:lnTo>
                  <a:lnTo>
                    <a:pt x="277826" y="45720"/>
                  </a:lnTo>
                  <a:lnTo>
                    <a:pt x="281692" y="49530"/>
                  </a:lnTo>
                  <a:lnTo>
                    <a:pt x="284665" y="52070"/>
                  </a:lnTo>
                  <a:lnTo>
                    <a:pt x="290116" y="59690"/>
                  </a:lnTo>
                  <a:lnTo>
                    <a:pt x="292559" y="62230"/>
                  </a:lnTo>
                  <a:lnTo>
                    <a:pt x="294721" y="66040"/>
                  </a:lnTo>
                  <a:lnTo>
                    <a:pt x="297656" y="71120"/>
                  </a:lnTo>
                  <a:lnTo>
                    <a:pt x="300029" y="76200"/>
                  </a:lnTo>
                  <a:lnTo>
                    <a:pt x="303651" y="87630"/>
                  </a:lnTo>
                  <a:lnTo>
                    <a:pt x="304860" y="93980"/>
                  </a:lnTo>
                  <a:lnTo>
                    <a:pt x="306073" y="105410"/>
                  </a:lnTo>
                  <a:lnTo>
                    <a:pt x="306063" y="110490"/>
                  </a:lnTo>
                  <a:lnTo>
                    <a:pt x="305228" y="118110"/>
                  </a:lnTo>
                  <a:close/>
                </a:path>
                <a:path w="323215" h="326389">
                  <a:moveTo>
                    <a:pt x="154967" y="125730"/>
                  </a:moveTo>
                  <a:lnTo>
                    <a:pt x="126203" y="125730"/>
                  </a:lnTo>
                  <a:lnTo>
                    <a:pt x="205816" y="78740"/>
                  </a:lnTo>
                  <a:lnTo>
                    <a:pt x="207469" y="78740"/>
                  </a:lnTo>
                  <a:lnTo>
                    <a:pt x="209254" y="77470"/>
                  </a:lnTo>
                  <a:lnTo>
                    <a:pt x="213089" y="77470"/>
                  </a:lnTo>
                  <a:lnTo>
                    <a:pt x="214874" y="78740"/>
                  </a:lnTo>
                  <a:lnTo>
                    <a:pt x="248249" y="97790"/>
                  </a:lnTo>
                  <a:lnTo>
                    <a:pt x="204074" y="97790"/>
                  </a:lnTo>
                  <a:lnTo>
                    <a:pt x="176590" y="113030"/>
                  </a:lnTo>
                  <a:lnTo>
                    <a:pt x="191640" y="121920"/>
                  </a:lnTo>
                  <a:lnTo>
                    <a:pt x="161620" y="121920"/>
                  </a:lnTo>
                  <a:lnTo>
                    <a:pt x="154967" y="125730"/>
                  </a:lnTo>
                  <a:close/>
                </a:path>
                <a:path w="323215" h="326389">
                  <a:moveTo>
                    <a:pt x="148478" y="228600"/>
                  </a:moveTo>
                  <a:lnTo>
                    <a:pt x="119105" y="228600"/>
                  </a:lnTo>
                  <a:lnTo>
                    <a:pt x="146653" y="212090"/>
                  </a:lnTo>
                  <a:lnTo>
                    <a:pt x="65705" y="166370"/>
                  </a:lnTo>
                  <a:lnTo>
                    <a:pt x="64403" y="165100"/>
                  </a:lnTo>
                  <a:lnTo>
                    <a:pt x="62508" y="161290"/>
                  </a:lnTo>
                  <a:lnTo>
                    <a:pt x="62046" y="160020"/>
                  </a:lnTo>
                  <a:lnTo>
                    <a:pt x="62071" y="80010"/>
                  </a:lnTo>
                  <a:lnTo>
                    <a:pt x="83112" y="80010"/>
                  </a:lnTo>
                  <a:lnTo>
                    <a:pt x="83155" y="158750"/>
                  </a:lnTo>
                  <a:lnTo>
                    <a:pt x="83327" y="158750"/>
                  </a:lnTo>
                  <a:lnTo>
                    <a:pt x="111168" y="175260"/>
                  </a:lnTo>
                  <a:lnTo>
                    <a:pt x="126189" y="175260"/>
                  </a:lnTo>
                  <a:lnTo>
                    <a:pt x="126202" y="182880"/>
                  </a:lnTo>
                  <a:lnTo>
                    <a:pt x="161750" y="204470"/>
                  </a:lnTo>
                  <a:lnTo>
                    <a:pt x="190531" y="204470"/>
                  </a:lnTo>
                  <a:lnTo>
                    <a:pt x="148478" y="228600"/>
                  </a:lnTo>
                  <a:close/>
                </a:path>
                <a:path w="323215" h="326389">
                  <a:moveTo>
                    <a:pt x="299235" y="246380"/>
                  </a:moveTo>
                  <a:lnTo>
                    <a:pt x="261689" y="246380"/>
                  </a:lnTo>
                  <a:lnTo>
                    <a:pt x="267137" y="243840"/>
                  </a:lnTo>
                  <a:lnTo>
                    <a:pt x="272194" y="241300"/>
                  </a:lnTo>
                  <a:lnTo>
                    <a:pt x="299595" y="205740"/>
                  </a:lnTo>
                  <a:lnTo>
                    <a:pt x="301762" y="186690"/>
                  </a:lnTo>
                  <a:lnTo>
                    <a:pt x="301594" y="184150"/>
                  </a:lnTo>
                  <a:lnTo>
                    <a:pt x="301511" y="182880"/>
                  </a:lnTo>
                  <a:lnTo>
                    <a:pt x="280481" y="142240"/>
                  </a:lnTo>
                  <a:lnTo>
                    <a:pt x="205043" y="97790"/>
                  </a:lnTo>
                  <a:lnTo>
                    <a:pt x="248249" y="97790"/>
                  </a:lnTo>
                  <a:lnTo>
                    <a:pt x="281624" y="116840"/>
                  </a:lnTo>
                  <a:lnTo>
                    <a:pt x="283560" y="118110"/>
                  </a:lnTo>
                  <a:lnTo>
                    <a:pt x="305228" y="118110"/>
                  </a:lnTo>
                  <a:lnTo>
                    <a:pt x="304811" y="121920"/>
                  </a:lnTo>
                  <a:lnTo>
                    <a:pt x="303584" y="128270"/>
                  </a:lnTo>
                  <a:lnTo>
                    <a:pt x="301754" y="133350"/>
                  </a:lnTo>
                  <a:lnTo>
                    <a:pt x="304649" y="137160"/>
                  </a:lnTo>
                  <a:lnTo>
                    <a:pt x="321259" y="171450"/>
                  </a:lnTo>
                  <a:lnTo>
                    <a:pt x="323009" y="189230"/>
                  </a:lnTo>
                  <a:lnTo>
                    <a:pt x="322627" y="196850"/>
                  </a:lnTo>
                  <a:lnTo>
                    <a:pt x="309071" y="234950"/>
                  </a:lnTo>
                  <a:lnTo>
                    <a:pt x="305695" y="240030"/>
                  </a:lnTo>
                  <a:lnTo>
                    <a:pt x="299235" y="246380"/>
                  </a:lnTo>
                  <a:close/>
                </a:path>
                <a:path w="323215" h="326389">
                  <a:moveTo>
                    <a:pt x="190531" y="204470"/>
                  </a:moveTo>
                  <a:lnTo>
                    <a:pt x="161750" y="204470"/>
                  </a:lnTo>
                  <a:lnTo>
                    <a:pt x="197171" y="182880"/>
                  </a:lnTo>
                  <a:lnTo>
                    <a:pt x="197171" y="142240"/>
                  </a:lnTo>
                  <a:lnTo>
                    <a:pt x="161620" y="121920"/>
                  </a:lnTo>
                  <a:lnTo>
                    <a:pt x="191640" y="121920"/>
                  </a:lnTo>
                  <a:lnTo>
                    <a:pt x="241090" y="151130"/>
                  </a:lnTo>
                  <a:lnTo>
                    <a:pt x="211946" y="151130"/>
                  </a:lnTo>
                  <a:lnTo>
                    <a:pt x="211940" y="200660"/>
                  </a:lnTo>
                  <a:lnTo>
                    <a:pt x="197171" y="200660"/>
                  </a:lnTo>
                  <a:lnTo>
                    <a:pt x="190531" y="204470"/>
                  </a:lnTo>
                  <a:close/>
                </a:path>
                <a:path w="323215" h="326389">
                  <a:moveTo>
                    <a:pt x="235463" y="304800"/>
                  </a:moveTo>
                  <a:lnTo>
                    <a:pt x="186724" y="304800"/>
                  </a:lnTo>
                  <a:lnTo>
                    <a:pt x="194610" y="303530"/>
                  </a:lnTo>
                  <a:lnTo>
                    <a:pt x="198439" y="302260"/>
                  </a:lnTo>
                  <a:lnTo>
                    <a:pt x="205868" y="298450"/>
                  </a:lnTo>
                  <a:lnTo>
                    <a:pt x="209397" y="297180"/>
                  </a:lnTo>
                  <a:lnTo>
                    <a:pt x="216083" y="292100"/>
                  </a:lnTo>
                  <a:lnTo>
                    <a:pt x="219176" y="289560"/>
                  </a:lnTo>
                  <a:lnTo>
                    <a:pt x="224864" y="284480"/>
                  </a:lnTo>
                  <a:lnTo>
                    <a:pt x="227405" y="281940"/>
                  </a:lnTo>
                  <a:lnTo>
                    <a:pt x="231878" y="274320"/>
                  </a:lnTo>
                  <a:lnTo>
                    <a:pt x="233768" y="271780"/>
                  </a:lnTo>
                  <a:lnTo>
                    <a:pt x="239959" y="167640"/>
                  </a:lnTo>
                  <a:lnTo>
                    <a:pt x="239493" y="167640"/>
                  </a:lnTo>
                  <a:lnTo>
                    <a:pt x="211946" y="151130"/>
                  </a:lnTo>
                  <a:lnTo>
                    <a:pt x="241090" y="151130"/>
                  </a:lnTo>
                  <a:lnTo>
                    <a:pt x="256140" y="160020"/>
                  </a:lnTo>
                  <a:lnTo>
                    <a:pt x="257801" y="160020"/>
                  </a:lnTo>
                  <a:lnTo>
                    <a:pt x="259128" y="161290"/>
                  </a:lnTo>
                  <a:lnTo>
                    <a:pt x="261107" y="165100"/>
                  </a:lnTo>
                  <a:lnTo>
                    <a:pt x="261630" y="166370"/>
                  </a:lnTo>
                  <a:lnTo>
                    <a:pt x="261689" y="246380"/>
                  </a:lnTo>
                  <a:lnTo>
                    <a:pt x="299235" y="246380"/>
                  </a:lnTo>
                  <a:lnTo>
                    <a:pt x="257430" y="269240"/>
                  </a:lnTo>
                  <a:lnTo>
                    <a:pt x="256102" y="273050"/>
                  </a:lnTo>
                  <a:lnTo>
                    <a:pt x="254456" y="278130"/>
                  </a:lnTo>
                  <a:lnTo>
                    <a:pt x="250532" y="285750"/>
                  </a:lnTo>
                  <a:lnTo>
                    <a:pt x="248277" y="289560"/>
                  </a:lnTo>
                  <a:lnTo>
                    <a:pt x="243182" y="295910"/>
                  </a:lnTo>
                  <a:lnTo>
                    <a:pt x="240374" y="299720"/>
                  </a:lnTo>
                  <a:lnTo>
                    <a:pt x="235463" y="304800"/>
                  </a:lnTo>
                  <a:close/>
                </a:path>
                <a:path w="323215" h="326389">
                  <a:moveTo>
                    <a:pt x="159244" y="279400"/>
                  </a:moveTo>
                  <a:lnTo>
                    <a:pt x="104074" y="279400"/>
                  </a:lnTo>
                  <a:lnTo>
                    <a:pt x="112055" y="278130"/>
                  </a:lnTo>
                  <a:lnTo>
                    <a:pt x="115956" y="278130"/>
                  </a:lnTo>
                  <a:lnTo>
                    <a:pt x="123580" y="275590"/>
                  </a:lnTo>
                  <a:lnTo>
                    <a:pt x="127230" y="273050"/>
                  </a:lnTo>
                  <a:lnTo>
                    <a:pt x="196718" y="233680"/>
                  </a:lnTo>
                  <a:lnTo>
                    <a:pt x="197005" y="233680"/>
                  </a:lnTo>
                  <a:lnTo>
                    <a:pt x="197155" y="232410"/>
                  </a:lnTo>
                  <a:lnTo>
                    <a:pt x="197171" y="200660"/>
                  </a:lnTo>
                  <a:lnTo>
                    <a:pt x="211940" y="200660"/>
                  </a:lnTo>
                  <a:lnTo>
                    <a:pt x="211935" y="245110"/>
                  </a:lnTo>
                  <a:lnTo>
                    <a:pt x="211452" y="246380"/>
                  </a:lnTo>
                  <a:lnTo>
                    <a:pt x="209543" y="250190"/>
                  </a:lnTo>
                  <a:lnTo>
                    <a:pt x="208240" y="251460"/>
                  </a:lnTo>
                  <a:lnTo>
                    <a:pt x="159244" y="279400"/>
                  </a:lnTo>
                  <a:close/>
                </a:path>
                <a:path w="323215" h="326389">
                  <a:moveTo>
                    <a:pt x="115848" y="247650"/>
                  </a:moveTo>
                  <a:lnTo>
                    <a:pt x="108490" y="247650"/>
                  </a:lnTo>
                  <a:lnTo>
                    <a:pt x="106846" y="246380"/>
                  </a:lnTo>
                  <a:lnTo>
                    <a:pt x="41620" y="209550"/>
                  </a:lnTo>
                  <a:lnTo>
                    <a:pt x="39683" y="208280"/>
                  </a:lnTo>
                  <a:lnTo>
                    <a:pt x="83622" y="208280"/>
                  </a:lnTo>
                  <a:lnTo>
                    <a:pt x="118459" y="228600"/>
                  </a:lnTo>
                  <a:lnTo>
                    <a:pt x="148478" y="228600"/>
                  </a:lnTo>
                  <a:lnTo>
                    <a:pt x="117492" y="246380"/>
                  </a:lnTo>
                  <a:lnTo>
                    <a:pt x="115848" y="247650"/>
                  </a:lnTo>
                  <a:close/>
                </a:path>
                <a:path w="323215" h="326389">
                  <a:moveTo>
                    <a:pt x="108698" y="300990"/>
                  </a:moveTo>
                  <a:lnTo>
                    <a:pt x="95699" y="300990"/>
                  </a:lnTo>
                  <a:lnTo>
                    <a:pt x="87062" y="299720"/>
                  </a:lnTo>
                  <a:lnTo>
                    <a:pt x="112988" y="299720"/>
                  </a:lnTo>
                  <a:lnTo>
                    <a:pt x="108698" y="300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B49D440-2A71-D749-279C-5916EFEE6775}"/>
                </a:ext>
              </a:extLst>
            </p:cNvPr>
            <p:cNvSpPr txBox="1"/>
            <p:nvPr/>
          </p:nvSpPr>
          <p:spPr>
            <a:xfrm>
              <a:off x="3895624" y="2060277"/>
              <a:ext cx="11271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A" sz="1200" b="1">
                  <a:latin typeface="Barlow Condensed Light" panose="00000406000000000000" pitchFamily="2" charset="0"/>
                  <a:cs typeface="Tahoma"/>
                </a:rPr>
                <a:t>OPEN AI</a:t>
              </a:r>
              <a:endParaRPr lang="en-GB" sz="120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D38B56C-59C4-5F26-58A1-AA2D19F62440}"/>
              </a:ext>
            </a:extLst>
          </p:cNvPr>
          <p:cNvGrpSpPr/>
          <p:nvPr/>
        </p:nvGrpSpPr>
        <p:grpSpPr>
          <a:xfrm>
            <a:off x="8039474" y="1375577"/>
            <a:ext cx="1127125" cy="965558"/>
            <a:chOff x="3102425" y="1381451"/>
            <a:chExt cx="1127125" cy="965558"/>
          </a:xfrm>
        </p:grpSpPr>
        <p:sp>
          <p:nvSpPr>
            <p:cNvPr id="25" name="object 10">
              <a:extLst>
                <a:ext uri="{FF2B5EF4-FFF2-40B4-BE49-F238E27FC236}">
                  <a16:creationId xmlns:a16="http://schemas.microsoft.com/office/drawing/2014/main" id="{C7A10BEC-0C5E-B965-A98B-5D38D0FEA3B5}"/>
                </a:ext>
              </a:extLst>
            </p:cNvPr>
            <p:cNvSpPr/>
            <p:nvPr/>
          </p:nvSpPr>
          <p:spPr>
            <a:xfrm>
              <a:off x="3326581" y="1381451"/>
              <a:ext cx="678815" cy="678815"/>
            </a:xfrm>
            <a:custGeom>
              <a:avLst/>
              <a:gdLst/>
              <a:ahLst/>
              <a:cxnLst/>
              <a:rect l="l" t="t" r="r" b="b"/>
              <a:pathLst>
                <a:path w="678815" h="678814">
                  <a:moveTo>
                    <a:pt x="339410" y="678806"/>
                  </a:moveTo>
                  <a:lnTo>
                    <a:pt x="293356" y="675708"/>
                  </a:lnTo>
                  <a:lnTo>
                    <a:pt x="249184" y="666682"/>
                  </a:lnTo>
                  <a:lnTo>
                    <a:pt x="207299" y="652134"/>
                  </a:lnTo>
                  <a:lnTo>
                    <a:pt x="168107" y="632468"/>
                  </a:lnTo>
                  <a:lnTo>
                    <a:pt x="132010" y="608087"/>
                  </a:lnTo>
                  <a:lnTo>
                    <a:pt x="99414" y="579397"/>
                  </a:lnTo>
                  <a:lnTo>
                    <a:pt x="70722" y="546802"/>
                  </a:lnTo>
                  <a:lnTo>
                    <a:pt x="46341" y="510706"/>
                  </a:lnTo>
                  <a:lnTo>
                    <a:pt x="26673" y="471514"/>
                  </a:lnTo>
                  <a:lnTo>
                    <a:pt x="12124" y="429630"/>
                  </a:lnTo>
                  <a:lnTo>
                    <a:pt x="3098" y="385458"/>
                  </a:lnTo>
                  <a:lnTo>
                    <a:pt x="0" y="339403"/>
                  </a:lnTo>
                  <a:lnTo>
                    <a:pt x="3098" y="293348"/>
                  </a:lnTo>
                  <a:lnTo>
                    <a:pt x="12124" y="249176"/>
                  </a:lnTo>
                  <a:lnTo>
                    <a:pt x="26673" y="207292"/>
                  </a:lnTo>
                  <a:lnTo>
                    <a:pt x="46341" y="168100"/>
                  </a:lnTo>
                  <a:lnTo>
                    <a:pt x="70722" y="132004"/>
                  </a:lnTo>
                  <a:lnTo>
                    <a:pt x="99414" y="99409"/>
                  </a:lnTo>
                  <a:lnTo>
                    <a:pt x="132010" y="70719"/>
                  </a:lnTo>
                  <a:lnTo>
                    <a:pt x="168107" y="46338"/>
                  </a:lnTo>
                  <a:lnTo>
                    <a:pt x="207299" y="26672"/>
                  </a:lnTo>
                  <a:lnTo>
                    <a:pt x="249184" y="12123"/>
                  </a:lnTo>
                  <a:lnTo>
                    <a:pt x="293356" y="3098"/>
                  </a:lnTo>
                  <a:lnTo>
                    <a:pt x="339410" y="0"/>
                  </a:lnTo>
                  <a:lnTo>
                    <a:pt x="385464" y="3098"/>
                  </a:lnTo>
                  <a:lnTo>
                    <a:pt x="429635" y="12123"/>
                  </a:lnTo>
                  <a:lnTo>
                    <a:pt x="471518" y="26672"/>
                  </a:lnTo>
                  <a:lnTo>
                    <a:pt x="510709" y="46338"/>
                  </a:lnTo>
                  <a:lnTo>
                    <a:pt x="546804" y="70719"/>
                  </a:lnTo>
                  <a:lnTo>
                    <a:pt x="579399" y="99409"/>
                  </a:lnTo>
                  <a:lnTo>
                    <a:pt x="608088" y="132004"/>
                  </a:lnTo>
                  <a:lnTo>
                    <a:pt x="632468" y="168100"/>
                  </a:lnTo>
                  <a:lnTo>
                    <a:pt x="652135" y="207292"/>
                  </a:lnTo>
                  <a:lnTo>
                    <a:pt x="666682" y="249176"/>
                  </a:lnTo>
                  <a:lnTo>
                    <a:pt x="675708" y="293348"/>
                  </a:lnTo>
                  <a:lnTo>
                    <a:pt x="678806" y="339403"/>
                  </a:lnTo>
                  <a:lnTo>
                    <a:pt x="675708" y="385458"/>
                  </a:lnTo>
                  <a:lnTo>
                    <a:pt x="666682" y="429630"/>
                  </a:lnTo>
                  <a:lnTo>
                    <a:pt x="652135" y="471514"/>
                  </a:lnTo>
                  <a:lnTo>
                    <a:pt x="632468" y="510706"/>
                  </a:lnTo>
                  <a:lnTo>
                    <a:pt x="608088" y="546802"/>
                  </a:lnTo>
                  <a:lnTo>
                    <a:pt x="579399" y="579397"/>
                  </a:lnTo>
                  <a:lnTo>
                    <a:pt x="546804" y="608087"/>
                  </a:lnTo>
                  <a:lnTo>
                    <a:pt x="510709" y="632468"/>
                  </a:lnTo>
                  <a:lnTo>
                    <a:pt x="471518" y="652134"/>
                  </a:lnTo>
                  <a:lnTo>
                    <a:pt x="429635" y="666682"/>
                  </a:lnTo>
                  <a:lnTo>
                    <a:pt x="385464" y="675708"/>
                  </a:lnTo>
                  <a:lnTo>
                    <a:pt x="339410" y="6788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1">
              <a:extLst>
                <a:ext uri="{FF2B5EF4-FFF2-40B4-BE49-F238E27FC236}">
                  <a16:creationId xmlns:a16="http://schemas.microsoft.com/office/drawing/2014/main" id="{C3B6E791-CB1B-F04B-9E63-19B0C379DC66}"/>
                </a:ext>
              </a:extLst>
            </p:cNvPr>
            <p:cNvSpPr/>
            <p:nvPr/>
          </p:nvSpPr>
          <p:spPr>
            <a:xfrm>
              <a:off x="3475889" y="1678092"/>
              <a:ext cx="381635" cy="86360"/>
            </a:xfrm>
            <a:custGeom>
              <a:avLst/>
              <a:gdLst/>
              <a:ahLst/>
              <a:cxnLst/>
              <a:rect l="l" t="t" r="r" b="b"/>
              <a:pathLst>
                <a:path w="381634" h="86360">
                  <a:moveTo>
                    <a:pt x="137077" y="71492"/>
                  </a:moveTo>
                  <a:lnTo>
                    <a:pt x="99698" y="6744"/>
                  </a:lnTo>
                  <a:lnTo>
                    <a:pt x="113713" y="6744"/>
                  </a:lnTo>
                  <a:lnTo>
                    <a:pt x="137077" y="47211"/>
                  </a:lnTo>
                  <a:lnTo>
                    <a:pt x="151094" y="47211"/>
                  </a:lnTo>
                  <a:lnTo>
                    <a:pt x="137077" y="71492"/>
                  </a:lnTo>
                  <a:close/>
                </a:path>
                <a:path w="381634" h="86360">
                  <a:moveTo>
                    <a:pt x="151094" y="47211"/>
                  </a:moveTo>
                  <a:lnTo>
                    <a:pt x="137077" y="47211"/>
                  </a:lnTo>
                  <a:lnTo>
                    <a:pt x="160439" y="6744"/>
                  </a:lnTo>
                  <a:lnTo>
                    <a:pt x="174456" y="6744"/>
                  </a:lnTo>
                  <a:lnTo>
                    <a:pt x="151094" y="47211"/>
                  </a:lnTo>
                  <a:close/>
                </a:path>
                <a:path w="381634" h="86360">
                  <a:moveTo>
                    <a:pt x="200598" y="70143"/>
                  </a:moveTo>
                  <a:lnTo>
                    <a:pt x="191599" y="70143"/>
                  </a:lnTo>
                  <a:lnTo>
                    <a:pt x="181102" y="68398"/>
                  </a:lnTo>
                  <a:lnTo>
                    <a:pt x="172526" y="63466"/>
                  </a:lnTo>
                  <a:lnTo>
                    <a:pt x="166866" y="55966"/>
                  </a:lnTo>
                  <a:lnTo>
                    <a:pt x="166743" y="55802"/>
                  </a:lnTo>
                  <a:lnTo>
                    <a:pt x="164624" y="45849"/>
                  </a:lnTo>
                  <a:lnTo>
                    <a:pt x="166535" y="35917"/>
                  </a:lnTo>
                  <a:lnTo>
                    <a:pt x="171854" y="28257"/>
                  </a:lnTo>
                  <a:lnTo>
                    <a:pt x="179965" y="23327"/>
                  </a:lnTo>
                  <a:lnTo>
                    <a:pt x="190251" y="21582"/>
                  </a:lnTo>
                  <a:lnTo>
                    <a:pt x="200538" y="23327"/>
                  </a:lnTo>
                  <a:lnTo>
                    <a:pt x="208650" y="28257"/>
                  </a:lnTo>
                  <a:lnTo>
                    <a:pt x="211509" y="32373"/>
                  </a:lnTo>
                  <a:lnTo>
                    <a:pt x="183789" y="32373"/>
                  </a:lnTo>
                  <a:lnTo>
                    <a:pt x="179177" y="35759"/>
                  </a:lnTo>
                  <a:lnTo>
                    <a:pt x="177490" y="41142"/>
                  </a:lnTo>
                  <a:lnTo>
                    <a:pt x="214975" y="41142"/>
                  </a:lnTo>
                  <a:lnTo>
                    <a:pt x="215880" y="45849"/>
                  </a:lnTo>
                  <a:lnTo>
                    <a:pt x="215880" y="47495"/>
                  </a:lnTo>
                  <a:lnTo>
                    <a:pt x="215705" y="49059"/>
                  </a:lnTo>
                  <a:lnTo>
                    <a:pt x="215408" y="50570"/>
                  </a:lnTo>
                  <a:lnTo>
                    <a:pt x="177612" y="50570"/>
                  </a:lnTo>
                  <a:lnTo>
                    <a:pt x="179587" y="55802"/>
                  </a:lnTo>
                  <a:lnTo>
                    <a:pt x="179649" y="55966"/>
                  </a:lnTo>
                  <a:lnTo>
                    <a:pt x="185139" y="59338"/>
                  </a:lnTo>
                  <a:lnTo>
                    <a:pt x="211294" y="59338"/>
                  </a:lnTo>
                  <a:lnTo>
                    <a:pt x="213439" y="60578"/>
                  </a:lnTo>
                  <a:lnTo>
                    <a:pt x="208529" y="66581"/>
                  </a:lnTo>
                  <a:lnTo>
                    <a:pt x="200598" y="70143"/>
                  </a:lnTo>
                  <a:close/>
                </a:path>
                <a:path w="381634" h="86360">
                  <a:moveTo>
                    <a:pt x="214975" y="41142"/>
                  </a:moveTo>
                  <a:lnTo>
                    <a:pt x="202985" y="41142"/>
                  </a:lnTo>
                  <a:lnTo>
                    <a:pt x="201361" y="35917"/>
                  </a:lnTo>
                  <a:lnTo>
                    <a:pt x="201312" y="35759"/>
                  </a:lnTo>
                  <a:lnTo>
                    <a:pt x="196698" y="32373"/>
                  </a:lnTo>
                  <a:lnTo>
                    <a:pt x="211509" y="32373"/>
                  </a:lnTo>
                  <a:lnTo>
                    <a:pt x="213860" y="35759"/>
                  </a:lnTo>
                  <a:lnTo>
                    <a:pt x="213970" y="35917"/>
                  </a:lnTo>
                  <a:lnTo>
                    <a:pt x="214975" y="41142"/>
                  </a:lnTo>
                  <a:close/>
                </a:path>
                <a:path w="381634" h="86360">
                  <a:moveTo>
                    <a:pt x="211294" y="59338"/>
                  </a:moveTo>
                  <a:lnTo>
                    <a:pt x="196254" y="59338"/>
                  </a:lnTo>
                  <a:lnTo>
                    <a:pt x="200395" y="57597"/>
                  </a:lnTo>
                  <a:lnTo>
                    <a:pt x="203120" y="54616"/>
                  </a:lnTo>
                  <a:lnTo>
                    <a:pt x="211294" y="59338"/>
                  </a:lnTo>
                  <a:close/>
                </a:path>
                <a:path w="381634" h="86360">
                  <a:moveTo>
                    <a:pt x="345848" y="70143"/>
                  </a:moveTo>
                  <a:lnTo>
                    <a:pt x="336851" y="70143"/>
                  </a:lnTo>
                  <a:lnTo>
                    <a:pt x="326353" y="68398"/>
                  </a:lnTo>
                  <a:lnTo>
                    <a:pt x="317777" y="63466"/>
                  </a:lnTo>
                  <a:lnTo>
                    <a:pt x="312118" y="55966"/>
                  </a:lnTo>
                  <a:lnTo>
                    <a:pt x="311994" y="55802"/>
                  </a:lnTo>
                  <a:lnTo>
                    <a:pt x="309876" y="45849"/>
                  </a:lnTo>
                  <a:lnTo>
                    <a:pt x="311787" y="35917"/>
                  </a:lnTo>
                  <a:lnTo>
                    <a:pt x="317106" y="28257"/>
                  </a:lnTo>
                  <a:lnTo>
                    <a:pt x="325216" y="23327"/>
                  </a:lnTo>
                  <a:lnTo>
                    <a:pt x="335503" y="21582"/>
                  </a:lnTo>
                  <a:lnTo>
                    <a:pt x="345790" y="23327"/>
                  </a:lnTo>
                  <a:lnTo>
                    <a:pt x="353902" y="28257"/>
                  </a:lnTo>
                  <a:lnTo>
                    <a:pt x="356761" y="32373"/>
                  </a:lnTo>
                  <a:lnTo>
                    <a:pt x="329055" y="32373"/>
                  </a:lnTo>
                  <a:lnTo>
                    <a:pt x="324441" y="35759"/>
                  </a:lnTo>
                  <a:lnTo>
                    <a:pt x="322755" y="41142"/>
                  </a:lnTo>
                  <a:lnTo>
                    <a:pt x="360226" y="41142"/>
                  </a:lnTo>
                  <a:lnTo>
                    <a:pt x="361132" y="45849"/>
                  </a:lnTo>
                  <a:lnTo>
                    <a:pt x="361132" y="47495"/>
                  </a:lnTo>
                  <a:lnTo>
                    <a:pt x="360957" y="49059"/>
                  </a:lnTo>
                  <a:lnTo>
                    <a:pt x="360660" y="50570"/>
                  </a:lnTo>
                  <a:lnTo>
                    <a:pt x="322862" y="50570"/>
                  </a:lnTo>
                  <a:lnTo>
                    <a:pt x="324837" y="55802"/>
                  </a:lnTo>
                  <a:lnTo>
                    <a:pt x="324899" y="55966"/>
                  </a:lnTo>
                  <a:lnTo>
                    <a:pt x="330391" y="59338"/>
                  </a:lnTo>
                  <a:lnTo>
                    <a:pt x="356544" y="59338"/>
                  </a:lnTo>
                  <a:lnTo>
                    <a:pt x="358690" y="60578"/>
                  </a:lnTo>
                  <a:lnTo>
                    <a:pt x="353780" y="66581"/>
                  </a:lnTo>
                  <a:lnTo>
                    <a:pt x="345848" y="70143"/>
                  </a:lnTo>
                  <a:close/>
                </a:path>
                <a:path w="381634" h="86360">
                  <a:moveTo>
                    <a:pt x="360226" y="41142"/>
                  </a:moveTo>
                  <a:lnTo>
                    <a:pt x="348250" y="41142"/>
                  </a:lnTo>
                  <a:lnTo>
                    <a:pt x="346626" y="35917"/>
                  </a:lnTo>
                  <a:lnTo>
                    <a:pt x="346577" y="35759"/>
                  </a:lnTo>
                  <a:lnTo>
                    <a:pt x="341963" y="32373"/>
                  </a:lnTo>
                  <a:lnTo>
                    <a:pt x="356761" y="32373"/>
                  </a:lnTo>
                  <a:lnTo>
                    <a:pt x="359112" y="35759"/>
                  </a:lnTo>
                  <a:lnTo>
                    <a:pt x="359222" y="35917"/>
                  </a:lnTo>
                  <a:lnTo>
                    <a:pt x="360226" y="41142"/>
                  </a:lnTo>
                  <a:close/>
                </a:path>
                <a:path w="381634" h="86360">
                  <a:moveTo>
                    <a:pt x="356544" y="59338"/>
                  </a:moveTo>
                  <a:lnTo>
                    <a:pt x="341505" y="59338"/>
                  </a:lnTo>
                  <a:lnTo>
                    <a:pt x="345647" y="57597"/>
                  </a:lnTo>
                  <a:lnTo>
                    <a:pt x="348372" y="54616"/>
                  </a:lnTo>
                  <a:lnTo>
                    <a:pt x="356544" y="59338"/>
                  </a:lnTo>
                  <a:close/>
                </a:path>
                <a:path w="381634" h="86360">
                  <a:moveTo>
                    <a:pt x="293497" y="70143"/>
                  </a:moveTo>
                  <a:lnTo>
                    <a:pt x="283596" y="70143"/>
                  </a:lnTo>
                  <a:lnTo>
                    <a:pt x="273303" y="68398"/>
                  </a:lnTo>
                  <a:lnTo>
                    <a:pt x="265192" y="63466"/>
                  </a:lnTo>
                  <a:lnTo>
                    <a:pt x="259875" y="55802"/>
                  </a:lnTo>
                  <a:lnTo>
                    <a:pt x="257967" y="45862"/>
                  </a:lnTo>
                  <a:lnTo>
                    <a:pt x="259877" y="35923"/>
                  </a:lnTo>
                  <a:lnTo>
                    <a:pt x="265197" y="28259"/>
                  </a:lnTo>
                  <a:lnTo>
                    <a:pt x="273309" y="23327"/>
                  </a:lnTo>
                  <a:lnTo>
                    <a:pt x="283596" y="21582"/>
                  </a:lnTo>
                  <a:lnTo>
                    <a:pt x="293497" y="21582"/>
                  </a:lnTo>
                  <a:lnTo>
                    <a:pt x="301524" y="25885"/>
                  </a:lnTo>
                  <a:lnTo>
                    <a:pt x="305428" y="32373"/>
                  </a:lnTo>
                  <a:lnTo>
                    <a:pt x="275407" y="32373"/>
                  </a:lnTo>
                  <a:lnTo>
                    <a:pt x="270107" y="37769"/>
                  </a:lnTo>
                  <a:lnTo>
                    <a:pt x="270107" y="53955"/>
                  </a:lnTo>
                  <a:lnTo>
                    <a:pt x="275394" y="59351"/>
                  </a:lnTo>
                  <a:lnTo>
                    <a:pt x="305429" y="59351"/>
                  </a:lnTo>
                  <a:lnTo>
                    <a:pt x="301537" y="65839"/>
                  </a:lnTo>
                  <a:lnTo>
                    <a:pt x="293497" y="70143"/>
                  </a:lnTo>
                  <a:close/>
                </a:path>
                <a:path w="381634" h="86360">
                  <a:moveTo>
                    <a:pt x="295467" y="39011"/>
                  </a:moveTo>
                  <a:lnTo>
                    <a:pt x="293322" y="34895"/>
                  </a:lnTo>
                  <a:lnTo>
                    <a:pt x="289154" y="32373"/>
                  </a:lnTo>
                  <a:lnTo>
                    <a:pt x="305428" y="32373"/>
                  </a:lnTo>
                  <a:lnTo>
                    <a:pt x="305826" y="33034"/>
                  </a:lnTo>
                  <a:lnTo>
                    <a:pt x="295467" y="39011"/>
                  </a:lnTo>
                  <a:close/>
                </a:path>
                <a:path w="381634" h="86360">
                  <a:moveTo>
                    <a:pt x="305429" y="59351"/>
                  </a:moveTo>
                  <a:lnTo>
                    <a:pt x="289154" y="59351"/>
                  </a:lnTo>
                  <a:lnTo>
                    <a:pt x="293322" y="56830"/>
                  </a:lnTo>
                  <a:lnTo>
                    <a:pt x="295467" y="52716"/>
                  </a:lnTo>
                  <a:lnTo>
                    <a:pt x="305826" y="58691"/>
                  </a:lnTo>
                  <a:lnTo>
                    <a:pt x="305429" y="59351"/>
                  </a:lnTo>
                  <a:close/>
                </a:path>
                <a:path w="381634" h="86360">
                  <a:moveTo>
                    <a:pt x="381365" y="68795"/>
                  </a:moveTo>
                  <a:lnTo>
                    <a:pt x="369225" y="68795"/>
                  </a:lnTo>
                  <a:lnTo>
                    <a:pt x="369225" y="6744"/>
                  </a:lnTo>
                  <a:lnTo>
                    <a:pt x="381365" y="6744"/>
                  </a:lnTo>
                  <a:lnTo>
                    <a:pt x="381365" y="68795"/>
                  </a:lnTo>
                  <a:close/>
                </a:path>
                <a:path w="381634" h="86360">
                  <a:moveTo>
                    <a:pt x="99684" y="86331"/>
                  </a:moveTo>
                  <a:lnTo>
                    <a:pt x="0" y="86331"/>
                  </a:lnTo>
                  <a:lnTo>
                    <a:pt x="49842" y="0"/>
                  </a:lnTo>
                  <a:lnTo>
                    <a:pt x="99684" y="86331"/>
                  </a:lnTo>
                  <a:close/>
                </a:path>
                <a:path w="381634" h="86360">
                  <a:moveTo>
                    <a:pt x="236114" y="68795"/>
                  </a:moveTo>
                  <a:lnTo>
                    <a:pt x="223973" y="68795"/>
                  </a:lnTo>
                  <a:lnTo>
                    <a:pt x="223973" y="22932"/>
                  </a:lnTo>
                  <a:lnTo>
                    <a:pt x="236114" y="22932"/>
                  </a:lnTo>
                  <a:lnTo>
                    <a:pt x="236114" y="35340"/>
                  </a:lnTo>
                  <a:lnTo>
                    <a:pt x="241768" y="35340"/>
                  </a:lnTo>
                  <a:lnTo>
                    <a:pt x="236114" y="40737"/>
                  </a:lnTo>
                  <a:lnTo>
                    <a:pt x="236114" y="68795"/>
                  </a:lnTo>
                  <a:close/>
                </a:path>
                <a:path w="381634" h="86360">
                  <a:moveTo>
                    <a:pt x="253919" y="36002"/>
                  </a:moveTo>
                  <a:lnTo>
                    <a:pt x="252571" y="35611"/>
                  </a:lnTo>
                  <a:lnTo>
                    <a:pt x="251133" y="35340"/>
                  </a:lnTo>
                  <a:lnTo>
                    <a:pt x="236114" y="35340"/>
                  </a:lnTo>
                  <a:lnTo>
                    <a:pt x="236114" y="28488"/>
                  </a:lnTo>
                  <a:lnTo>
                    <a:pt x="244087" y="22932"/>
                  </a:lnTo>
                  <a:lnTo>
                    <a:pt x="253919" y="22932"/>
                  </a:lnTo>
                  <a:lnTo>
                    <a:pt x="253919" y="360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15AE512-AF92-20E4-2918-64436BEC4071}"/>
                </a:ext>
              </a:extLst>
            </p:cNvPr>
            <p:cNvSpPr txBox="1"/>
            <p:nvPr/>
          </p:nvSpPr>
          <p:spPr>
            <a:xfrm>
              <a:off x="3102425" y="2070010"/>
              <a:ext cx="11271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A" sz="1200" b="1">
                  <a:latin typeface="Barlow Condensed Light" panose="00000406000000000000" pitchFamily="2" charset="0"/>
                  <a:cs typeface="Tahoma"/>
                </a:rPr>
                <a:t>VERCEL</a:t>
              </a:r>
              <a:endParaRPr lang="en-GB" sz="1200"/>
            </a:p>
          </p:txBody>
        </p:sp>
      </p:grp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07C68224-5292-B5E0-CE51-7130DACF60C6}"/>
              </a:ext>
            </a:extLst>
          </p:cNvPr>
          <p:cNvGrpSpPr/>
          <p:nvPr/>
        </p:nvGrpSpPr>
        <p:grpSpPr>
          <a:xfrm>
            <a:off x="1467579" y="1375577"/>
            <a:ext cx="1127125" cy="965558"/>
            <a:chOff x="1467579" y="1375577"/>
            <a:chExt cx="1127125" cy="965558"/>
          </a:xfrm>
        </p:grpSpPr>
        <p:sp>
          <p:nvSpPr>
            <p:cNvPr id="23" name="object 8">
              <a:extLst>
                <a:ext uri="{FF2B5EF4-FFF2-40B4-BE49-F238E27FC236}">
                  <a16:creationId xmlns:a16="http://schemas.microsoft.com/office/drawing/2014/main" id="{220CE7B6-48D9-9E92-FA17-EE568972278F}"/>
                </a:ext>
              </a:extLst>
            </p:cNvPr>
            <p:cNvSpPr/>
            <p:nvPr/>
          </p:nvSpPr>
          <p:spPr>
            <a:xfrm>
              <a:off x="1705048" y="1375577"/>
              <a:ext cx="678815" cy="678815"/>
            </a:xfrm>
            <a:custGeom>
              <a:avLst/>
              <a:gdLst/>
              <a:ahLst/>
              <a:cxnLst/>
              <a:rect l="l" t="t" r="r" b="b"/>
              <a:pathLst>
                <a:path w="678815" h="678814">
                  <a:moveTo>
                    <a:pt x="339396" y="678806"/>
                  </a:moveTo>
                  <a:lnTo>
                    <a:pt x="293342" y="675708"/>
                  </a:lnTo>
                  <a:lnTo>
                    <a:pt x="249171" y="666682"/>
                  </a:lnTo>
                  <a:lnTo>
                    <a:pt x="207288" y="652134"/>
                  </a:lnTo>
                  <a:lnTo>
                    <a:pt x="168096" y="632468"/>
                  </a:lnTo>
                  <a:lnTo>
                    <a:pt x="132001" y="608087"/>
                  </a:lnTo>
                  <a:lnTo>
                    <a:pt x="99407" y="579397"/>
                  </a:lnTo>
                  <a:lnTo>
                    <a:pt x="70717" y="546802"/>
                  </a:lnTo>
                  <a:lnTo>
                    <a:pt x="46337" y="510706"/>
                  </a:lnTo>
                  <a:lnTo>
                    <a:pt x="26671" y="471514"/>
                  </a:lnTo>
                  <a:lnTo>
                    <a:pt x="12123" y="429630"/>
                  </a:lnTo>
                  <a:lnTo>
                    <a:pt x="3098" y="385458"/>
                  </a:lnTo>
                  <a:lnTo>
                    <a:pt x="0" y="339403"/>
                  </a:lnTo>
                  <a:lnTo>
                    <a:pt x="3098" y="293348"/>
                  </a:lnTo>
                  <a:lnTo>
                    <a:pt x="12123" y="249176"/>
                  </a:lnTo>
                  <a:lnTo>
                    <a:pt x="26671" y="207292"/>
                  </a:lnTo>
                  <a:lnTo>
                    <a:pt x="46337" y="168100"/>
                  </a:lnTo>
                  <a:lnTo>
                    <a:pt x="70717" y="132004"/>
                  </a:lnTo>
                  <a:lnTo>
                    <a:pt x="99407" y="99409"/>
                  </a:lnTo>
                  <a:lnTo>
                    <a:pt x="132001" y="70719"/>
                  </a:lnTo>
                  <a:lnTo>
                    <a:pt x="168096" y="46338"/>
                  </a:lnTo>
                  <a:lnTo>
                    <a:pt x="207288" y="26672"/>
                  </a:lnTo>
                  <a:lnTo>
                    <a:pt x="249171" y="12123"/>
                  </a:lnTo>
                  <a:lnTo>
                    <a:pt x="293342" y="3098"/>
                  </a:lnTo>
                  <a:lnTo>
                    <a:pt x="339396" y="0"/>
                  </a:lnTo>
                  <a:lnTo>
                    <a:pt x="385450" y="3098"/>
                  </a:lnTo>
                  <a:lnTo>
                    <a:pt x="429622" y="12123"/>
                  </a:lnTo>
                  <a:lnTo>
                    <a:pt x="471506" y="26672"/>
                  </a:lnTo>
                  <a:lnTo>
                    <a:pt x="510699" y="46338"/>
                  </a:lnTo>
                  <a:lnTo>
                    <a:pt x="546796" y="70719"/>
                  </a:lnTo>
                  <a:lnTo>
                    <a:pt x="579392" y="99409"/>
                  </a:lnTo>
                  <a:lnTo>
                    <a:pt x="608083" y="132004"/>
                  </a:lnTo>
                  <a:lnTo>
                    <a:pt x="632465" y="168100"/>
                  </a:lnTo>
                  <a:lnTo>
                    <a:pt x="652132" y="207292"/>
                  </a:lnTo>
                  <a:lnTo>
                    <a:pt x="666681" y="249176"/>
                  </a:lnTo>
                  <a:lnTo>
                    <a:pt x="675707" y="293348"/>
                  </a:lnTo>
                  <a:lnTo>
                    <a:pt x="678806" y="339403"/>
                  </a:lnTo>
                  <a:lnTo>
                    <a:pt x="675707" y="385458"/>
                  </a:lnTo>
                  <a:lnTo>
                    <a:pt x="666681" y="429630"/>
                  </a:lnTo>
                  <a:lnTo>
                    <a:pt x="652132" y="471514"/>
                  </a:lnTo>
                  <a:lnTo>
                    <a:pt x="632465" y="510706"/>
                  </a:lnTo>
                  <a:lnTo>
                    <a:pt x="608083" y="546802"/>
                  </a:lnTo>
                  <a:lnTo>
                    <a:pt x="579392" y="579397"/>
                  </a:lnTo>
                  <a:lnTo>
                    <a:pt x="546796" y="608087"/>
                  </a:lnTo>
                  <a:lnTo>
                    <a:pt x="510699" y="632468"/>
                  </a:lnTo>
                  <a:lnTo>
                    <a:pt x="471506" y="652134"/>
                  </a:lnTo>
                  <a:lnTo>
                    <a:pt x="429622" y="666682"/>
                  </a:lnTo>
                  <a:lnTo>
                    <a:pt x="385450" y="675708"/>
                  </a:lnTo>
                  <a:lnTo>
                    <a:pt x="339396" y="6788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9">
              <a:extLst>
                <a:ext uri="{FF2B5EF4-FFF2-40B4-BE49-F238E27FC236}">
                  <a16:creationId xmlns:a16="http://schemas.microsoft.com/office/drawing/2014/main" id="{E73EE0BD-0AF9-DED1-FF7D-2D65ECBF4D53}"/>
                </a:ext>
              </a:extLst>
            </p:cNvPr>
            <p:cNvSpPr/>
            <p:nvPr/>
          </p:nvSpPr>
          <p:spPr>
            <a:xfrm>
              <a:off x="1922460" y="1587494"/>
              <a:ext cx="243204" cy="294005"/>
            </a:xfrm>
            <a:custGeom>
              <a:avLst/>
              <a:gdLst/>
              <a:ahLst/>
              <a:cxnLst/>
              <a:rect l="l" t="t" r="r" b="b"/>
              <a:pathLst>
                <a:path w="243205" h="294005">
                  <a:moveTo>
                    <a:pt x="68689" y="293441"/>
                  </a:moveTo>
                  <a:lnTo>
                    <a:pt x="60873" y="290566"/>
                  </a:lnTo>
                  <a:lnTo>
                    <a:pt x="56740" y="284217"/>
                  </a:lnTo>
                  <a:lnTo>
                    <a:pt x="3559" y="201861"/>
                  </a:lnTo>
                  <a:lnTo>
                    <a:pt x="71" y="196500"/>
                  </a:lnTo>
                  <a:lnTo>
                    <a:pt x="0" y="189605"/>
                  </a:lnTo>
                  <a:lnTo>
                    <a:pt x="3376" y="184174"/>
                  </a:lnTo>
                  <a:lnTo>
                    <a:pt x="112153" y="7992"/>
                  </a:lnTo>
                  <a:lnTo>
                    <a:pt x="115240" y="2927"/>
                  </a:lnTo>
                  <a:lnTo>
                    <a:pt x="120887" y="0"/>
                  </a:lnTo>
                  <a:lnTo>
                    <a:pt x="126807" y="396"/>
                  </a:lnTo>
                  <a:lnTo>
                    <a:pt x="132712" y="702"/>
                  </a:lnTo>
                  <a:lnTo>
                    <a:pt x="137973" y="4220"/>
                  </a:lnTo>
                  <a:lnTo>
                    <a:pt x="140512" y="9560"/>
                  </a:lnTo>
                  <a:lnTo>
                    <a:pt x="152589" y="35207"/>
                  </a:lnTo>
                  <a:lnTo>
                    <a:pt x="133842" y="35207"/>
                  </a:lnTo>
                  <a:lnTo>
                    <a:pt x="128053" y="35870"/>
                  </a:lnTo>
                  <a:lnTo>
                    <a:pt x="79559" y="268128"/>
                  </a:lnTo>
                  <a:lnTo>
                    <a:pt x="83393" y="271590"/>
                  </a:lnTo>
                  <a:lnTo>
                    <a:pt x="142540" y="271590"/>
                  </a:lnTo>
                  <a:lnTo>
                    <a:pt x="68689" y="293441"/>
                  </a:lnTo>
                  <a:close/>
                </a:path>
                <a:path w="243205" h="294005">
                  <a:moveTo>
                    <a:pt x="142540" y="271590"/>
                  </a:moveTo>
                  <a:lnTo>
                    <a:pt x="83393" y="271590"/>
                  </a:lnTo>
                  <a:lnTo>
                    <a:pt x="220102" y="231173"/>
                  </a:lnTo>
                  <a:lnTo>
                    <a:pt x="221553" y="229922"/>
                  </a:lnTo>
                  <a:lnTo>
                    <a:pt x="223070" y="226590"/>
                  </a:lnTo>
                  <a:lnTo>
                    <a:pt x="223062" y="224675"/>
                  </a:lnTo>
                  <a:lnTo>
                    <a:pt x="133842" y="35207"/>
                  </a:lnTo>
                  <a:lnTo>
                    <a:pt x="152589" y="35207"/>
                  </a:lnTo>
                  <a:lnTo>
                    <a:pt x="242888" y="226937"/>
                  </a:lnTo>
                  <a:lnTo>
                    <a:pt x="242922" y="232029"/>
                  </a:lnTo>
                  <a:lnTo>
                    <a:pt x="238859" y="240910"/>
                  </a:lnTo>
                  <a:lnTo>
                    <a:pt x="234985" y="244255"/>
                  </a:lnTo>
                  <a:lnTo>
                    <a:pt x="142540" y="2715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A084343-5538-E526-8CA5-3F9069A9E745}"/>
                </a:ext>
              </a:extLst>
            </p:cNvPr>
            <p:cNvSpPr txBox="1"/>
            <p:nvPr/>
          </p:nvSpPr>
          <p:spPr>
            <a:xfrm>
              <a:off x="1467579" y="2064136"/>
              <a:ext cx="11271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A" sz="1200" b="1">
                  <a:latin typeface="Barlow Condensed Light" panose="00000406000000000000" pitchFamily="2" charset="0"/>
                  <a:cs typeface="Tahoma"/>
                </a:rPr>
                <a:t>PRISMA</a:t>
              </a:r>
              <a:endParaRPr lang="en-GB" sz="120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4E58CB2-49A0-1684-86E4-83F40161506E}"/>
              </a:ext>
            </a:extLst>
          </p:cNvPr>
          <p:cNvGrpSpPr/>
          <p:nvPr/>
        </p:nvGrpSpPr>
        <p:grpSpPr>
          <a:xfrm>
            <a:off x="5597530" y="1375577"/>
            <a:ext cx="1127125" cy="965558"/>
            <a:chOff x="1550831" y="1381451"/>
            <a:chExt cx="1127125" cy="965558"/>
          </a:xfrm>
        </p:grpSpPr>
        <p:sp>
          <p:nvSpPr>
            <p:cNvPr id="21" name="object 6">
              <a:extLst>
                <a:ext uri="{FF2B5EF4-FFF2-40B4-BE49-F238E27FC236}">
                  <a16:creationId xmlns:a16="http://schemas.microsoft.com/office/drawing/2014/main" id="{522F7337-8E48-361B-0489-CF182553D8FC}"/>
                </a:ext>
              </a:extLst>
            </p:cNvPr>
            <p:cNvSpPr/>
            <p:nvPr/>
          </p:nvSpPr>
          <p:spPr>
            <a:xfrm>
              <a:off x="1778997" y="1381451"/>
              <a:ext cx="678815" cy="678815"/>
            </a:xfrm>
            <a:custGeom>
              <a:avLst/>
              <a:gdLst/>
              <a:ahLst/>
              <a:cxnLst/>
              <a:rect l="l" t="t" r="r" b="b"/>
              <a:pathLst>
                <a:path w="678815" h="678814">
                  <a:moveTo>
                    <a:pt x="339410" y="678806"/>
                  </a:moveTo>
                  <a:lnTo>
                    <a:pt x="293353" y="675708"/>
                  </a:lnTo>
                  <a:lnTo>
                    <a:pt x="249179" y="666682"/>
                  </a:lnTo>
                  <a:lnTo>
                    <a:pt x="207294" y="652134"/>
                  </a:lnTo>
                  <a:lnTo>
                    <a:pt x="168100" y="632468"/>
                  </a:lnTo>
                  <a:lnTo>
                    <a:pt x="132004" y="608087"/>
                  </a:lnTo>
                  <a:lnTo>
                    <a:pt x="99408" y="579397"/>
                  </a:lnTo>
                  <a:lnTo>
                    <a:pt x="70718" y="546802"/>
                  </a:lnTo>
                  <a:lnTo>
                    <a:pt x="46338" y="510706"/>
                  </a:lnTo>
                  <a:lnTo>
                    <a:pt x="26671" y="471514"/>
                  </a:lnTo>
                  <a:lnTo>
                    <a:pt x="12123" y="429630"/>
                  </a:lnTo>
                  <a:lnTo>
                    <a:pt x="3098" y="385458"/>
                  </a:lnTo>
                  <a:lnTo>
                    <a:pt x="0" y="339403"/>
                  </a:lnTo>
                  <a:lnTo>
                    <a:pt x="3098" y="293348"/>
                  </a:lnTo>
                  <a:lnTo>
                    <a:pt x="12123" y="249176"/>
                  </a:lnTo>
                  <a:lnTo>
                    <a:pt x="26671" y="207292"/>
                  </a:lnTo>
                  <a:lnTo>
                    <a:pt x="46338" y="168100"/>
                  </a:lnTo>
                  <a:lnTo>
                    <a:pt x="70718" y="132004"/>
                  </a:lnTo>
                  <a:lnTo>
                    <a:pt x="99408" y="99409"/>
                  </a:lnTo>
                  <a:lnTo>
                    <a:pt x="132004" y="70719"/>
                  </a:lnTo>
                  <a:lnTo>
                    <a:pt x="168100" y="46338"/>
                  </a:lnTo>
                  <a:lnTo>
                    <a:pt x="207294" y="26672"/>
                  </a:lnTo>
                  <a:lnTo>
                    <a:pt x="249179" y="12123"/>
                  </a:lnTo>
                  <a:lnTo>
                    <a:pt x="293353" y="3098"/>
                  </a:lnTo>
                  <a:lnTo>
                    <a:pt x="339410" y="0"/>
                  </a:lnTo>
                  <a:lnTo>
                    <a:pt x="385464" y="3098"/>
                  </a:lnTo>
                  <a:lnTo>
                    <a:pt x="429635" y="12123"/>
                  </a:lnTo>
                  <a:lnTo>
                    <a:pt x="471518" y="26672"/>
                  </a:lnTo>
                  <a:lnTo>
                    <a:pt x="510709" y="46338"/>
                  </a:lnTo>
                  <a:lnTo>
                    <a:pt x="546804" y="70719"/>
                  </a:lnTo>
                  <a:lnTo>
                    <a:pt x="579399" y="99409"/>
                  </a:lnTo>
                  <a:lnTo>
                    <a:pt x="608088" y="132004"/>
                  </a:lnTo>
                  <a:lnTo>
                    <a:pt x="632468" y="168100"/>
                  </a:lnTo>
                  <a:lnTo>
                    <a:pt x="652135" y="207292"/>
                  </a:lnTo>
                  <a:lnTo>
                    <a:pt x="666682" y="249176"/>
                  </a:lnTo>
                  <a:lnTo>
                    <a:pt x="675708" y="293348"/>
                  </a:lnTo>
                  <a:lnTo>
                    <a:pt x="678806" y="339403"/>
                  </a:lnTo>
                  <a:lnTo>
                    <a:pt x="675708" y="385458"/>
                  </a:lnTo>
                  <a:lnTo>
                    <a:pt x="666682" y="429630"/>
                  </a:lnTo>
                  <a:lnTo>
                    <a:pt x="652135" y="471514"/>
                  </a:lnTo>
                  <a:lnTo>
                    <a:pt x="632468" y="510706"/>
                  </a:lnTo>
                  <a:lnTo>
                    <a:pt x="608088" y="546802"/>
                  </a:lnTo>
                  <a:lnTo>
                    <a:pt x="579399" y="579397"/>
                  </a:lnTo>
                  <a:lnTo>
                    <a:pt x="546804" y="608087"/>
                  </a:lnTo>
                  <a:lnTo>
                    <a:pt x="510709" y="632468"/>
                  </a:lnTo>
                  <a:lnTo>
                    <a:pt x="471518" y="652134"/>
                  </a:lnTo>
                  <a:lnTo>
                    <a:pt x="429635" y="666682"/>
                  </a:lnTo>
                  <a:lnTo>
                    <a:pt x="385464" y="675708"/>
                  </a:lnTo>
                  <a:lnTo>
                    <a:pt x="339410" y="6788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7">
              <a:extLst>
                <a:ext uri="{FF2B5EF4-FFF2-40B4-BE49-F238E27FC236}">
                  <a16:creationId xmlns:a16="http://schemas.microsoft.com/office/drawing/2014/main" id="{B294BF41-E3E7-C65B-91BB-AFB8446CE407}"/>
                </a:ext>
              </a:extLst>
            </p:cNvPr>
            <p:cNvSpPr/>
            <p:nvPr/>
          </p:nvSpPr>
          <p:spPr>
            <a:xfrm>
              <a:off x="1961888" y="1662297"/>
              <a:ext cx="314325" cy="118745"/>
            </a:xfrm>
            <a:custGeom>
              <a:avLst/>
              <a:gdLst/>
              <a:ahLst/>
              <a:cxnLst/>
              <a:rect l="l" t="t" r="r" b="b"/>
              <a:pathLst>
                <a:path w="314325" h="118744">
                  <a:moveTo>
                    <a:pt x="30016" y="118296"/>
                  </a:moveTo>
                  <a:lnTo>
                    <a:pt x="0" y="118296"/>
                  </a:lnTo>
                  <a:lnTo>
                    <a:pt x="0" y="0"/>
                  </a:lnTo>
                  <a:lnTo>
                    <a:pt x="48968" y="0"/>
                  </a:lnTo>
                  <a:lnTo>
                    <a:pt x="58782" y="749"/>
                  </a:lnTo>
                  <a:lnTo>
                    <a:pt x="84368" y="16822"/>
                  </a:lnTo>
                  <a:lnTo>
                    <a:pt x="82378" y="22952"/>
                  </a:lnTo>
                  <a:lnTo>
                    <a:pt x="30016" y="22952"/>
                  </a:lnTo>
                  <a:lnTo>
                    <a:pt x="30016" y="54733"/>
                  </a:lnTo>
                  <a:lnTo>
                    <a:pt x="72063" y="54733"/>
                  </a:lnTo>
                  <a:lnTo>
                    <a:pt x="65254" y="75712"/>
                  </a:lnTo>
                  <a:lnTo>
                    <a:pt x="60646" y="77029"/>
                  </a:lnTo>
                  <a:lnTo>
                    <a:pt x="55392" y="77687"/>
                  </a:lnTo>
                  <a:lnTo>
                    <a:pt x="30016" y="77687"/>
                  </a:lnTo>
                  <a:lnTo>
                    <a:pt x="30016" y="118296"/>
                  </a:lnTo>
                  <a:close/>
                </a:path>
                <a:path w="314325" h="118744">
                  <a:moveTo>
                    <a:pt x="141776" y="76446"/>
                  </a:moveTo>
                  <a:lnTo>
                    <a:pt x="114239" y="76446"/>
                  </a:lnTo>
                  <a:lnTo>
                    <a:pt x="139152" y="0"/>
                  </a:lnTo>
                  <a:lnTo>
                    <a:pt x="163459" y="0"/>
                  </a:lnTo>
                  <a:lnTo>
                    <a:pt x="178555" y="49740"/>
                  </a:lnTo>
                  <a:lnTo>
                    <a:pt x="150545" y="49740"/>
                  </a:lnTo>
                  <a:lnTo>
                    <a:pt x="141776" y="76446"/>
                  </a:lnTo>
                  <a:close/>
                </a:path>
                <a:path w="314325" h="118744">
                  <a:moveTo>
                    <a:pt x="220085" y="76446"/>
                  </a:moveTo>
                  <a:lnTo>
                    <a:pt x="186660" y="76446"/>
                  </a:lnTo>
                  <a:lnTo>
                    <a:pt x="219286" y="0"/>
                  </a:lnTo>
                  <a:lnTo>
                    <a:pt x="250908" y="0"/>
                  </a:lnTo>
                  <a:lnTo>
                    <a:pt x="220085" y="76446"/>
                  </a:lnTo>
                  <a:close/>
                </a:path>
                <a:path w="314325" h="118744">
                  <a:moveTo>
                    <a:pt x="314201" y="118296"/>
                  </a:moveTo>
                  <a:lnTo>
                    <a:pt x="281343" y="118296"/>
                  </a:lnTo>
                  <a:lnTo>
                    <a:pt x="273729" y="97109"/>
                  </a:lnTo>
                  <a:lnTo>
                    <a:pt x="231244" y="97109"/>
                  </a:lnTo>
                  <a:lnTo>
                    <a:pt x="240321" y="74156"/>
                  </a:lnTo>
                  <a:lnTo>
                    <a:pt x="266529" y="74156"/>
                  </a:lnTo>
                  <a:lnTo>
                    <a:pt x="254092" y="39336"/>
                  </a:lnTo>
                  <a:lnTo>
                    <a:pt x="269646" y="0"/>
                  </a:lnTo>
                  <a:lnTo>
                    <a:pt x="314201" y="118296"/>
                  </a:lnTo>
                  <a:close/>
                </a:path>
                <a:path w="314325" h="118744">
                  <a:moveTo>
                    <a:pt x="72063" y="54733"/>
                  </a:moveTo>
                  <a:lnTo>
                    <a:pt x="48572" y="54733"/>
                  </a:lnTo>
                  <a:lnTo>
                    <a:pt x="53585" y="53170"/>
                  </a:lnTo>
                  <a:lnTo>
                    <a:pt x="58789" y="47229"/>
                  </a:lnTo>
                  <a:lnTo>
                    <a:pt x="60032" y="43422"/>
                  </a:lnTo>
                  <a:lnTo>
                    <a:pt x="60032" y="33857"/>
                  </a:lnTo>
                  <a:lnTo>
                    <a:pt x="58619" y="30056"/>
                  </a:lnTo>
                  <a:lnTo>
                    <a:pt x="52973" y="24374"/>
                  </a:lnTo>
                  <a:lnTo>
                    <a:pt x="48159" y="22952"/>
                  </a:lnTo>
                  <a:lnTo>
                    <a:pt x="82378" y="22952"/>
                  </a:lnTo>
                  <a:lnTo>
                    <a:pt x="72063" y="54733"/>
                  </a:lnTo>
                  <a:close/>
                </a:path>
                <a:path w="314325" h="118744">
                  <a:moveTo>
                    <a:pt x="128033" y="118296"/>
                  </a:moveTo>
                  <a:lnTo>
                    <a:pt x="96914" y="118296"/>
                  </a:lnTo>
                  <a:lnTo>
                    <a:pt x="80772" y="90593"/>
                  </a:lnTo>
                  <a:lnTo>
                    <a:pt x="96670" y="41610"/>
                  </a:lnTo>
                  <a:lnTo>
                    <a:pt x="114239" y="76446"/>
                  </a:lnTo>
                  <a:lnTo>
                    <a:pt x="141776" y="76446"/>
                  </a:lnTo>
                  <a:lnTo>
                    <a:pt x="128033" y="118296"/>
                  </a:lnTo>
                  <a:close/>
                </a:path>
                <a:path w="314325" h="118744">
                  <a:moveTo>
                    <a:pt x="203211" y="118296"/>
                  </a:moveTo>
                  <a:lnTo>
                    <a:pt x="172009" y="118296"/>
                  </a:lnTo>
                  <a:lnTo>
                    <a:pt x="150545" y="49740"/>
                  </a:lnTo>
                  <a:lnTo>
                    <a:pt x="178555" y="49740"/>
                  </a:lnTo>
                  <a:lnTo>
                    <a:pt x="186660" y="76446"/>
                  </a:lnTo>
                  <a:lnTo>
                    <a:pt x="220085" y="76446"/>
                  </a:lnTo>
                  <a:lnTo>
                    <a:pt x="203211" y="1182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45EEAF5-DE62-BAD8-7DC6-194FF8350E35}"/>
                </a:ext>
              </a:extLst>
            </p:cNvPr>
            <p:cNvSpPr txBox="1"/>
            <p:nvPr/>
          </p:nvSpPr>
          <p:spPr>
            <a:xfrm>
              <a:off x="1550831" y="2070010"/>
              <a:ext cx="11271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A" sz="1200" b="1">
                  <a:latin typeface="Barlow Condensed Light" panose="00000406000000000000" pitchFamily="2" charset="0"/>
                  <a:cs typeface="Tahoma"/>
                </a:rPr>
                <a:t>PWA</a:t>
              </a:r>
              <a:endParaRPr lang="en-GB" sz="120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E4D02D0-6C56-4D5F-F19C-2CCE4284DA35}"/>
              </a:ext>
            </a:extLst>
          </p:cNvPr>
          <p:cNvSpPr txBox="1"/>
          <p:nvPr/>
        </p:nvSpPr>
        <p:spPr>
          <a:xfrm>
            <a:off x="-115158" y="2070010"/>
            <a:ext cx="11271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200" b="1">
                <a:latin typeface="Barlow Condensed Light" panose="00000406000000000000" pitchFamily="2" charset="0"/>
                <a:cs typeface="Tahoma"/>
              </a:rPr>
              <a:t>NEXT</a:t>
            </a:r>
            <a:r>
              <a:rPr lang="en-CA" sz="800" b="1">
                <a:latin typeface="Barlow Condensed Light" panose="00000406000000000000" pitchFamily="2" charset="0"/>
                <a:cs typeface="Tahoma"/>
              </a:rPr>
              <a:t>JS</a:t>
            </a:r>
            <a:endParaRPr lang="en-GB" sz="12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3455DF-444D-3C20-EB53-180685FA7317}"/>
              </a:ext>
            </a:extLst>
          </p:cNvPr>
          <p:cNvSpPr txBox="1"/>
          <p:nvPr/>
        </p:nvSpPr>
        <p:spPr>
          <a:xfrm>
            <a:off x="604569" y="2070010"/>
            <a:ext cx="11271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200" b="1">
                <a:latin typeface="Barlow Condensed Light" panose="00000406000000000000" pitchFamily="2" charset="0"/>
                <a:cs typeface="Tahoma"/>
              </a:rPr>
              <a:t>SUPABASE</a:t>
            </a:r>
            <a:endParaRPr lang="en-GB" sz="1200"/>
          </a:p>
        </p:txBody>
      </p:sp>
      <p:grpSp>
        <p:nvGrpSpPr>
          <p:cNvPr id="1026" name="Group 1025">
            <a:extLst>
              <a:ext uri="{FF2B5EF4-FFF2-40B4-BE49-F238E27FC236}">
                <a16:creationId xmlns:a16="http://schemas.microsoft.com/office/drawing/2014/main" id="{3EAB2559-A55D-CD5B-90EF-5D8127F944ED}"/>
              </a:ext>
            </a:extLst>
          </p:cNvPr>
          <p:cNvGrpSpPr/>
          <p:nvPr/>
        </p:nvGrpSpPr>
        <p:grpSpPr>
          <a:xfrm>
            <a:off x="3927778" y="1381451"/>
            <a:ext cx="1127125" cy="965558"/>
            <a:chOff x="8115609" y="1381451"/>
            <a:chExt cx="1127125" cy="965558"/>
          </a:xfrm>
        </p:grpSpPr>
        <p:sp>
          <p:nvSpPr>
            <p:cNvPr id="40" name="object 14">
              <a:extLst>
                <a:ext uri="{FF2B5EF4-FFF2-40B4-BE49-F238E27FC236}">
                  <a16:creationId xmlns:a16="http://schemas.microsoft.com/office/drawing/2014/main" id="{D5ECD0BB-2FE5-E2D9-DCDA-AE3763444E32}"/>
                </a:ext>
              </a:extLst>
            </p:cNvPr>
            <p:cNvSpPr/>
            <p:nvPr/>
          </p:nvSpPr>
          <p:spPr>
            <a:xfrm>
              <a:off x="8339765" y="1381451"/>
              <a:ext cx="678815" cy="678815"/>
            </a:xfrm>
            <a:custGeom>
              <a:avLst/>
              <a:gdLst/>
              <a:ahLst/>
              <a:cxnLst/>
              <a:rect l="l" t="t" r="r" b="b"/>
              <a:pathLst>
                <a:path w="678815" h="678814">
                  <a:moveTo>
                    <a:pt x="339396" y="678806"/>
                  </a:moveTo>
                  <a:lnTo>
                    <a:pt x="293342" y="675708"/>
                  </a:lnTo>
                  <a:lnTo>
                    <a:pt x="249171" y="666682"/>
                  </a:lnTo>
                  <a:lnTo>
                    <a:pt x="207288" y="652134"/>
                  </a:lnTo>
                  <a:lnTo>
                    <a:pt x="168096" y="632468"/>
                  </a:lnTo>
                  <a:lnTo>
                    <a:pt x="132001" y="608087"/>
                  </a:lnTo>
                  <a:lnTo>
                    <a:pt x="99407" y="579397"/>
                  </a:lnTo>
                  <a:lnTo>
                    <a:pt x="70717" y="546802"/>
                  </a:lnTo>
                  <a:lnTo>
                    <a:pt x="46337" y="510706"/>
                  </a:lnTo>
                  <a:lnTo>
                    <a:pt x="26671" y="471514"/>
                  </a:lnTo>
                  <a:lnTo>
                    <a:pt x="12123" y="429630"/>
                  </a:lnTo>
                  <a:lnTo>
                    <a:pt x="3098" y="385458"/>
                  </a:lnTo>
                  <a:lnTo>
                    <a:pt x="0" y="339403"/>
                  </a:lnTo>
                  <a:lnTo>
                    <a:pt x="3098" y="293348"/>
                  </a:lnTo>
                  <a:lnTo>
                    <a:pt x="12123" y="249176"/>
                  </a:lnTo>
                  <a:lnTo>
                    <a:pt x="26671" y="207292"/>
                  </a:lnTo>
                  <a:lnTo>
                    <a:pt x="46337" y="168100"/>
                  </a:lnTo>
                  <a:lnTo>
                    <a:pt x="70717" y="132004"/>
                  </a:lnTo>
                  <a:lnTo>
                    <a:pt x="99407" y="99409"/>
                  </a:lnTo>
                  <a:lnTo>
                    <a:pt x="132001" y="70719"/>
                  </a:lnTo>
                  <a:lnTo>
                    <a:pt x="168096" y="46338"/>
                  </a:lnTo>
                  <a:lnTo>
                    <a:pt x="207288" y="26672"/>
                  </a:lnTo>
                  <a:lnTo>
                    <a:pt x="249171" y="12123"/>
                  </a:lnTo>
                  <a:lnTo>
                    <a:pt x="293342" y="3098"/>
                  </a:lnTo>
                  <a:lnTo>
                    <a:pt x="339396" y="0"/>
                  </a:lnTo>
                  <a:lnTo>
                    <a:pt x="385450" y="3098"/>
                  </a:lnTo>
                  <a:lnTo>
                    <a:pt x="429622" y="12123"/>
                  </a:lnTo>
                  <a:lnTo>
                    <a:pt x="471506" y="26672"/>
                  </a:lnTo>
                  <a:lnTo>
                    <a:pt x="510699" y="46338"/>
                  </a:lnTo>
                  <a:lnTo>
                    <a:pt x="546796" y="70719"/>
                  </a:lnTo>
                  <a:lnTo>
                    <a:pt x="579392" y="99409"/>
                  </a:lnTo>
                  <a:lnTo>
                    <a:pt x="608083" y="132004"/>
                  </a:lnTo>
                  <a:lnTo>
                    <a:pt x="632465" y="168100"/>
                  </a:lnTo>
                  <a:lnTo>
                    <a:pt x="652132" y="207292"/>
                  </a:lnTo>
                  <a:lnTo>
                    <a:pt x="666681" y="249176"/>
                  </a:lnTo>
                  <a:lnTo>
                    <a:pt x="675707" y="293348"/>
                  </a:lnTo>
                  <a:lnTo>
                    <a:pt x="678806" y="339403"/>
                  </a:lnTo>
                  <a:lnTo>
                    <a:pt x="675707" y="385458"/>
                  </a:lnTo>
                  <a:lnTo>
                    <a:pt x="666681" y="429630"/>
                  </a:lnTo>
                  <a:lnTo>
                    <a:pt x="652132" y="471514"/>
                  </a:lnTo>
                  <a:lnTo>
                    <a:pt x="632465" y="510706"/>
                  </a:lnTo>
                  <a:lnTo>
                    <a:pt x="608083" y="546802"/>
                  </a:lnTo>
                  <a:lnTo>
                    <a:pt x="579392" y="579397"/>
                  </a:lnTo>
                  <a:lnTo>
                    <a:pt x="546796" y="608087"/>
                  </a:lnTo>
                  <a:lnTo>
                    <a:pt x="510699" y="632468"/>
                  </a:lnTo>
                  <a:lnTo>
                    <a:pt x="471506" y="652134"/>
                  </a:lnTo>
                  <a:lnTo>
                    <a:pt x="429622" y="666682"/>
                  </a:lnTo>
                  <a:lnTo>
                    <a:pt x="385450" y="675708"/>
                  </a:lnTo>
                  <a:lnTo>
                    <a:pt x="339396" y="6788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C98FDED-17C1-8742-F59D-631C445BBE09}"/>
                </a:ext>
              </a:extLst>
            </p:cNvPr>
            <p:cNvSpPr txBox="1"/>
            <p:nvPr/>
          </p:nvSpPr>
          <p:spPr>
            <a:xfrm>
              <a:off x="8115609" y="2070010"/>
              <a:ext cx="11271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A" sz="1200" b="1">
                  <a:latin typeface="Barlow Condensed Light" panose="00000406000000000000" pitchFamily="2" charset="0"/>
                  <a:cs typeface="Tahoma"/>
                </a:rPr>
                <a:t>FULLCALENDER</a:t>
              </a:r>
              <a:endParaRPr lang="en-GB" sz="1200"/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AFAA9DE8-54E3-D601-05D2-498C9839D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95014" y="1552370"/>
              <a:ext cx="362720" cy="331746"/>
            </a:xfrm>
            <a:prstGeom prst="rect">
              <a:avLst/>
            </a:prstGeom>
          </p:spPr>
        </p:pic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A234B1C2-9EDD-3D2D-3500-D966227DB85C}"/>
              </a:ext>
            </a:extLst>
          </p:cNvPr>
          <p:cNvGrpSpPr/>
          <p:nvPr/>
        </p:nvGrpSpPr>
        <p:grpSpPr>
          <a:xfrm>
            <a:off x="6502881" y="1375577"/>
            <a:ext cx="1127125" cy="965558"/>
            <a:chOff x="6092143" y="1375577"/>
            <a:chExt cx="1127125" cy="965558"/>
          </a:xfrm>
        </p:grpSpPr>
        <p:sp>
          <p:nvSpPr>
            <p:cNvPr id="37" name="object 14">
              <a:extLst>
                <a:ext uri="{FF2B5EF4-FFF2-40B4-BE49-F238E27FC236}">
                  <a16:creationId xmlns:a16="http://schemas.microsoft.com/office/drawing/2014/main" id="{403615AB-11D9-6C61-D8EE-A32A6E5B40F6}"/>
                </a:ext>
              </a:extLst>
            </p:cNvPr>
            <p:cNvSpPr/>
            <p:nvPr/>
          </p:nvSpPr>
          <p:spPr>
            <a:xfrm>
              <a:off x="6295224" y="1375577"/>
              <a:ext cx="678815" cy="678815"/>
            </a:xfrm>
            <a:custGeom>
              <a:avLst/>
              <a:gdLst/>
              <a:ahLst/>
              <a:cxnLst/>
              <a:rect l="l" t="t" r="r" b="b"/>
              <a:pathLst>
                <a:path w="678815" h="678814">
                  <a:moveTo>
                    <a:pt x="339396" y="678806"/>
                  </a:moveTo>
                  <a:lnTo>
                    <a:pt x="293342" y="675708"/>
                  </a:lnTo>
                  <a:lnTo>
                    <a:pt x="249171" y="666682"/>
                  </a:lnTo>
                  <a:lnTo>
                    <a:pt x="207288" y="652134"/>
                  </a:lnTo>
                  <a:lnTo>
                    <a:pt x="168096" y="632468"/>
                  </a:lnTo>
                  <a:lnTo>
                    <a:pt x="132001" y="608087"/>
                  </a:lnTo>
                  <a:lnTo>
                    <a:pt x="99407" y="579397"/>
                  </a:lnTo>
                  <a:lnTo>
                    <a:pt x="70717" y="546802"/>
                  </a:lnTo>
                  <a:lnTo>
                    <a:pt x="46337" y="510706"/>
                  </a:lnTo>
                  <a:lnTo>
                    <a:pt x="26671" y="471514"/>
                  </a:lnTo>
                  <a:lnTo>
                    <a:pt x="12123" y="429630"/>
                  </a:lnTo>
                  <a:lnTo>
                    <a:pt x="3098" y="385458"/>
                  </a:lnTo>
                  <a:lnTo>
                    <a:pt x="0" y="339403"/>
                  </a:lnTo>
                  <a:lnTo>
                    <a:pt x="3098" y="293348"/>
                  </a:lnTo>
                  <a:lnTo>
                    <a:pt x="12123" y="249176"/>
                  </a:lnTo>
                  <a:lnTo>
                    <a:pt x="26671" y="207292"/>
                  </a:lnTo>
                  <a:lnTo>
                    <a:pt x="46337" y="168100"/>
                  </a:lnTo>
                  <a:lnTo>
                    <a:pt x="70717" y="132004"/>
                  </a:lnTo>
                  <a:lnTo>
                    <a:pt x="99407" y="99409"/>
                  </a:lnTo>
                  <a:lnTo>
                    <a:pt x="132001" y="70719"/>
                  </a:lnTo>
                  <a:lnTo>
                    <a:pt x="168096" y="46338"/>
                  </a:lnTo>
                  <a:lnTo>
                    <a:pt x="207288" y="26672"/>
                  </a:lnTo>
                  <a:lnTo>
                    <a:pt x="249171" y="12123"/>
                  </a:lnTo>
                  <a:lnTo>
                    <a:pt x="293342" y="3098"/>
                  </a:lnTo>
                  <a:lnTo>
                    <a:pt x="339396" y="0"/>
                  </a:lnTo>
                  <a:lnTo>
                    <a:pt x="385450" y="3098"/>
                  </a:lnTo>
                  <a:lnTo>
                    <a:pt x="429622" y="12123"/>
                  </a:lnTo>
                  <a:lnTo>
                    <a:pt x="471506" y="26672"/>
                  </a:lnTo>
                  <a:lnTo>
                    <a:pt x="510699" y="46338"/>
                  </a:lnTo>
                  <a:lnTo>
                    <a:pt x="546796" y="70719"/>
                  </a:lnTo>
                  <a:lnTo>
                    <a:pt x="579392" y="99409"/>
                  </a:lnTo>
                  <a:lnTo>
                    <a:pt x="608083" y="132004"/>
                  </a:lnTo>
                  <a:lnTo>
                    <a:pt x="632465" y="168100"/>
                  </a:lnTo>
                  <a:lnTo>
                    <a:pt x="652132" y="207292"/>
                  </a:lnTo>
                  <a:lnTo>
                    <a:pt x="666681" y="249176"/>
                  </a:lnTo>
                  <a:lnTo>
                    <a:pt x="675707" y="293348"/>
                  </a:lnTo>
                  <a:lnTo>
                    <a:pt x="678806" y="339403"/>
                  </a:lnTo>
                  <a:lnTo>
                    <a:pt x="675707" y="385458"/>
                  </a:lnTo>
                  <a:lnTo>
                    <a:pt x="666681" y="429630"/>
                  </a:lnTo>
                  <a:lnTo>
                    <a:pt x="652132" y="471514"/>
                  </a:lnTo>
                  <a:lnTo>
                    <a:pt x="632465" y="510706"/>
                  </a:lnTo>
                  <a:lnTo>
                    <a:pt x="608083" y="546802"/>
                  </a:lnTo>
                  <a:lnTo>
                    <a:pt x="579392" y="579397"/>
                  </a:lnTo>
                  <a:lnTo>
                    <a:pt x="546796" y="608087"/>
                  </a:lnTo>
                  <a:lnTo>
                    <a:pt x="510699" y="632468"/>
                  </a:lnTo>
                  <a:lnTo>
                    <a:pt x="471506" y="652134"/>
                  </a:lnTo>
                  <a:lnTo>
                    <a:pt x="429622" y="666682"/>
                  </a:lnTo>
                  <a:lnTo>
                    <a:pt x="385450" y="675708"/>
                  </a:lnTo>
                  <a:lnTo>
                    <a:pt x="339396" y="6788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9041537-6BB9-176D-9C5E-DDDD16EA2A72}"/>
                </a:ext>
              </a:extLst>
            </p:cNvPr>
            <p:cNvSpPr txBox="1"/>
            <p:nvPr/>
          </p:nvSpPr>
          <p:spPr>
            <a:xfrm>
              <a:off x="6092143" y="2064136"/>
              <a:ext cx="11271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A" sz="1200" b="1">
                  <a:latin typeface="Barlow Condensed Light" panose="00000406000000000000" pitchFamily="2" charset="0"/>
                  <a:cs typeface="Tahoma"/>
                </a:rPr>
                <a:t>UPLOADTHING</a:t>
              </a:r>
              <a:endParaRPr lang="en-GB" sz="1200"/>
            </a:p>
          </p:txBody>
        </p:sp>
        <p:pic>
          <p:nvPicPr>
            <p:cNvPr id="1028" name="Picture 4" descr="UploadThing Status">
              <a:extLst>
                <a:ext uri="{FF2B5EF4-FFF2-40B4-BE49-F238E27FC236}">
                  <a16:creationId xmlns:a16="http://schemas.microsoft.com/office/drawing/2014/main" id="{9533D41F-55DF-F90D-4299-E9C75CED0D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8157" y="1526937"/>
              <a:ext cx="443941" cy="4022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AE6E223A-0E0F-DAD6-6E37-C3AA582A39D2}"/>
              </a:ext>
            </a:extLst>
          </p:cNvPr>
          <p:cNvGrpSpPr/>
          <p:nvPr/>
        </p:nvGrpSpPr>
        <p:grpSpPr>
          <a:xfrm>
            <a:off x="7255337" y="1375577"/>
            <a:ext cx="1127125" cy="965558"/>
            <a:chOff x="6959016" y="1375577"/>
            <a:chExt cx="1127125" cy="965558"/>
          </a:xfrm>
        </p:grpSpPr>
        <p:sp>
          <p:nvSpPr>
            <p:cNvPr id="38" name="object 14">
              <a:extLst>
                <a:ext uri="{FF2B5EF4-FFF2-40B4-BE49-F238E27FC236}">
                  <a16:creationId xmlns:a16="http://schemas.microsoft.com/office/drawing/2014/main" id="{74F92295-166A-CE03-6B33-2E8C5D9FFC50}"/>
                </a:ext>
              </a:extLst>
            </p:cNvPr>
            <p:cNvSpPr/>
            <p:nvPr/>
          </p:nvSpPr>
          <p:spPr>
            <a:xfrm>
              <a:off x="7198127" y="1375577"/>
              <a:ext cx="678815" cy="678815"/>
            </a:xfrm>
            <a:custGeom>
              <a:avLst/>
              <a:gdLst/>
              <a:ahLst/>
              <a:cxnLst/>
              <a:rect l="l" t="t" r="r" b="b"/>
              <a:pathLst>
                <a:path w="678815" h="678814">
                  <a:moveTo>
                    <a:pt x="339396" y="678806"/>
                  </a:moveTo>
                  <a:lnTo>
                    <a:pt x="293342" y="675708"/>
                  </a:lnTo>
                  <a:lnTo>
                    <a:pt x="249171" y="666682"/>
                  </a:lnTo>
                  <a:lnTo>
                    <a:pt x="207288" y="652134"/>
                  </a:lnTo>
                  <a:lnTo>
                    <a:pt x="168096" y="632468"/>
                  </a:lnTo>
                  <a:lnTo>
                    <a:pt x="132001" y="608087"/>
                  </a:lnTo>
                  <a:lnTo>
                    <a:pt x="99407" y="579397"/>
                  </a:lnTo>
                  <a:lnTo>
                    <a:pt x="70717" y="546802"/>
                  </a:lnTo>
                  <a:lnTo>
                    <a:pt x="46337" y="510706"/>
                  </a:lnTo>
                  <a:lnTo>
                    <a:pt x="26671" y="471514"/>
                  </a:lnTo>
                  <a:lnTo>
                    <a:pt x="12123" y="429630"/>
                  </a:lnTo>
                  <a:lnTo>
                    <a:pt x="3098" y="385458"/>
                  </a:lnTo>
                  <a:lnTo>
                    <a:pt x="0" y="339403"/>
                  </a:lnTo>
                  <a:lnTo>
                    <a:pt x="3098" y="293348"/>
                  </a:lnTo>
                  <a:lnTo>
                    <a:pt x="12123" y="249176"/>
                  </a:lnTo>
                  <a:lnTo>
                    <a:pt x="26671" y="207292"/>
                  </a:lnTo>
                  <a:lnTo>
                    <a:pt x="46337" y="168100"/>
                  </a:lnTo>
                  <a:lnTo>
                    <a:pt x="70717" y="132004"/>
                  </a:lnTo>
                  <a:lnTo>
                    <a:pt x="99407" y="99409"/>
                  </a:lnTo>
                  <a:lnTo>
                    <a:pt x="132001" y="70719"/>
                  </a:lnTo>
                  <a:lnTo>
                    <a:pt x="168096" y="46338"/>
                  </a:lnTo>
                  <a:lnTo>
                    <a:pt x="207288" y="26672"/>
                  </a:lnTo>
                  <a:lnTo>
                    <a:pt x="249171" y="12123"/>
                  </a:lnTo>
                  <a:lnTo>
                    <a:pt x="293342" y="3098"/>
                  </a:lnTo>
                  <a:lnTo>
                    <a:pt x="339396" y="0"/>
                  </a:lnTo>
                  <a:lnTo>
                    <a:pt x="385450" y="3098"/>
                  </a:lnTo>
                  <a:lnTo>
                    <a:pt x="429622" y="12123"/>
                  </a:lnTo>
                  <a:lnTo>
                    <a:pt x="471506" y="26672"/>
                  </a:lnTo>
                  <a:lnTo>
                    <a:pt x="510699" y="46338"/>
                  </a:lnTo>
                  <a:lnTo>
                    <a:pt x="546796" y="70719"/>
                  </a:lnTo>
                  <a:lnTo>
                    <a:pt x="579392" y="99409"/>
                  </a:lnTo>
                  <a:lnTo>
                    <a:pt x="608083" y="132004"/>
                  </a:lnTo>
                  <a:lnTo>
                    <a:pt x="632465" y="168100"/>
                  </a:lnTo>
                  <a:lnTo>
                    <a:pt x="652132" y="207292"/>
                  </a:lnTo>
                  <a:lnTo>
                    <a:pt x="666681" y="249176"/>
                  </a:lnTo>
                  <a:lnTo>
                    <a:pt x="675707" y="293348"/>
                  </a:lnTo>
                  <a:lnTo>
                    <a:pt x="678806" y="339403"/>
                  </a:lnTo>
                  <a:lnTo>
                    <a:pt x="675707" y="385458"/>
                  </a:lnTo>
                  <a:lnTo>
                    <a:pt x="666681" y="429630"/>
                  </a:lnTo>
                  <a:lnTo>
                    <a:pt x="652132" y="471514"/>
                  </a:lnTo>
                  <a:lnTo>
                    <a:pt x="632465" y="510706"/>
                  </a:lnTo>
                  <a:lnTo>
                    <a:pt x="608083" y="546802"/>
                  </a:lnTo>
                  <a:lnTo>
                    <a:pt x="579392" y="579397"/>
                  </a:lnTo>
                  <a:lnTo>
                    <a:pt x="546796" y="608087"/>
                  </a:lnTo>
                  <a:lnTo>
                    <a:pt x="510699" y="632468"/>
                  </a:lnTo>
                  <a:lnTo>
                    <a:pt x="471506" y="652134"/>
                  </a:lnTo>
                  <a:lnTo>
                    <a:pt x="429622" y="666682"/>
                  </a:lnTo>
                  <a:lnTo>
                    <a:pt x="385450" y="675708"/>
                  </a:lnTo>
                  <a:lnTo>
                    <a:pt x="339396" y="6788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A443D7E-B375-9CD8-9750-22BB71A8EC99}"/>
                </a:ext>
              </a:extLst>
            </p:cNvPr>
            <p:cNvSpPr txBox="1"/>
            <p:nvPr/>
          </p:nvSpPr>
          <p:spPr>
            <a:xfrm>
              <a:off x="6959016" y="2064136"/>
              <a:ext cx="11271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A" sz="1200" b="1">
                  <a:latin typeface="Barlow Condensed Light" panose="00000406000000000000" pitchFamily="2" charset="0"/>
                  <a:cs typeface="Tahoma"/>
                </a:rPr>
                <a:t>RESEND</a:t>
              </a:r>
              <a:endParaRPr lang="en-GB" sz="1200"/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BE7BC19D-A382-409D-E602-EB49D3E78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93293" y="1494243"/>
              <a:ext cx="406841" cy="436251"/>
            </a:xfrm>
            <a:prstGeom prst="rect">
              <a:avLst/>
            </a:prstGeom>
          </p:spPr>
        </p:pic>
      </p:grp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32F61CE8-EA1C-3830-085E-8E0129886B52}"/>
              </a:ext>
            </a:extLst>
          </p:cNvPr>
          <p:cNvGrpSpPr/>
          <p:nvPr/>
        </p:nvGrpSpPr>
        <p:grpSpPr>
          <a:xfrm>
            <a:off x="3048982" y="1381451"/>
            <a:ext cx="1127125" cy="965558"/>
            <a:chOff x="7248736" y="1381451"/>
            <a:chExt cx="1127125" cy="965558"/>
          </a:xfrm>
        </p:grpSpPr>
        <p:sp>
          <p:nvSpPr>
            <p:cNvPr id="39" name="object 14">
              <a:extLst>
                <a:ext uri="{FF2B5EF4-FFF2-40B4-BE49-F238E27FC236}">
                  <a16:creationId xmlns:a16="http://schemas.microsoft.com/office/drawing/2014/main" id="{16E70510-A5F6-82C7-ADA0-08EEF7D46E64}"/>
                </a:ext>
              </a:extLst>
            </p:cNvPr>
            <p:cNvSpPr/>
            <p:nvPr/>
          </p:nvSpPr>
          <p:spPr>
            <a:xfrm>
              <a:off x="7477682" y="1381451"/>
              <a:ext cx="678815" cy="678815"/>
            </a:xfrm>
            <a:custGeom>
              <a:avLst/>
              <a:gdLst/>
              <a:ahLst/>
              <a:cxnLst/>
              <a:rect l="l" t="t" r="r" b="b"/>
              <a:pathLst>
                <a:path w="678815" h="678814">
                  <a:moveTo>
                    <a:pt x="339396" y="678806"/>
                  </a:moveTo>
                  <a:lnTo>
                    <a:pt x="293342" y="675708"/>
                  </a:lnTo>
                  <a:lnTo>
                    <a:pt x="249171" y="666682"/>
                  </a:lnTo>
                  <a:lnTo>
                    <a:pt x="207288" y="652134"/>
                  </a:lnTo>
                  <a:lnTo>
                    <a:pt x="168096" y="632468"/>
                  </a:lnTo>
                  <a:lnTo>
                    <a:pt x="132001" y="608087"/>
                  </a:lnTo>
                  <a:lnTo>
                    <a:pt x="99407" y="579397"/>
                  </a:lnTo>
                  <a:lnTo>
                    <a:pt x="70717" y="546802"/>
                  </a:lnTo>
                  <a:lnTo>
                    <a:pt x="46337" y="510706"/>
                  </a:lnTo>
                  <a:lnTo>
                    <a:pt x="26671" y="471514"/>
                  </a:lnTo>
                  <a:lnTo>
                    <a:pt x="12123" y="429630"/>
                  </a:lnTo>
                  <a:lnTo>
                    <a:pt x="3098" y="385458"/>
                  </a:lnTo>
                  <a:lnTo>
                    <a:pt x="0" y="339403"/>
                  </a:lnTo>
                  <a:lnTo>
                    <a:pt x="3098" y="293348"/>
                  </a:lnTo>
                  <a:lnTo>
                    <a:pt x="12123" y="249176"/>
                  </a:lnTo>
                  <a:lnTo>
                    <a:pt x="26671" y="207292"/>
                  </a:lnTo>
                  <a:lnTo>
                    <a:pt x="46337" y="168100"/>
                  </a:lnTo>
                  <a:lnTo>
                    <a:pt x="70717" y="132004"/>
                  </a:lnTo>
                  <a:lnTo>
                    <a:pt x="99407" y="99409"/>
                  </a:lnTo>
                  <a:lnTo>
                    <a:pt x="132001" y="70719"/>
                  </a:lnTo>
                  <a:lnTo>
                    <a:pt x="168096" y="46338"/>
                  </a:lnTo>
                  <a:lnTo>
                    <a:pt x="207288" y="26672"/>
                  </a:lnTo>
                  <a:lnTo>
                    <a:pt x="249171" y="12123"/>
                  </a:lnTo>
                  <a:lnTo>
                    <a:pt x="293342" y="3098"/>
                  </a:lnTo>
                  <a:lnTo>
                    <a:pt x="339396" y="0"/>
                  </a:lnTo>
                  <a:lnTo>
                    <a:pt x="385450" y="3098"/>
                  </a:lnTo>
                  <a:lnTo>
                    <a:pt x="429622" y="12123"/>
                  </a:lnTo>
                  <a:lnTo>
                    <a:pt x="471506" y="26672"/>
                  </a:lnTo>
                  <a:lnTo>
                    <a:pt x="510699" y="46338"/>
                  </a:lnTo>
                  <a:lnTo>
                    <a:pt x="546796" y="70719"/>
                  </a:lnTo>
                  <a:lnTo>
                    <a:pt x="579392" y="99409"/>
                  </a:lnTo>
                  <a:lnTo>
                    <a:pt x="608083" y="132004"/>
                  </a:lnTo>
                  <a:lnTo>
                    <a:pt x="632465" y="168100"/>
                  </a:lnTo>
                  <a:lnTo>
                    <a:pt x="652132" y="207292"/>
                  </a:lnTo>
                  <a:lnTo>
                    <a:pt x="666681" y="249176"/>
                  </a:lnTo>
                  <a:lnTo>
                    <a:pt x="675707" y="293348"/>
                  </a:lnTo>
                  <a:lnTo>
                    <a:pt x="678806" y="339403"/>
                  </a:lnTo>
                  <a:lnTo>
                    <a:pt x="675707" y="385458"/>
                  </a:lnTo>
                  <a:lnTo>
                    <a:pt x="666681" y="429630"/>
                  </a:lnTo>
                  <a:lnTo>
                    <a:pt x="652132" y="471514"/>
                  </a:lnTo>
                  <a:lnTo>
                    <a:pt x="632465" y="510706"/>
                  </a:lnTo>
                  <a:lnTo>
                    <a:pt x="608083" y="546802"/>
                  </a:lnTo>
                  <a:lnTo>
                    <a:pt x="579392" y="579397"/>
                  </a:lnTo>
                  <a:lnTo>
                    <a:pt x="546796" y="608087"/>
                  </a:lnTo>
                  <a:lnTo>
                    <a:pt x="510699" y="632468"/>
                  </a:lnTo>
                  <a:lnTo>
                    <a:pt x="471506" y="652134"/>
                  </a:lnTo>
                  <a:lnTo>
                    <a:pt x="429622" y="666682"/>
                  </a:lnTo>
                  <a:lnTo>
                    <a:pt x="385450" y="675708"/>
                  </a:lnTo>
                  <a:lnTo>
                    <a:pt x="339396" y="6788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A15DF36-5BA2-3798-14C3-DF6CE5F30750}"/>
                </a:ext>
              </a:extLst>
            </p:cNvPr>
            <p:cNvSpPr txBox="1"/>
            <p:nvPr/>
          </p:nvSpPr>
          <p:spPr>
            <a:xfrm>
              <a:off x="7248736" y="2070010"/>
              <a:ext cx="11271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A" sz="1200" b="1">
                  <a:latin typeface="Barlow Condensed Light" panose="00000406000000000000" pitchFamily="2" charset="0"/>
                  <a:cs typeface="Tahoma"/>
                </a:rPr>
                <a:t>MANTINE</a:t>
              </a:r>
              <a:endParaRPr lang="en-GB" sz="1200"/>
            </a:p>
          </p:txBody>
        </p:sp>
        <p:pic>
          <p:nvPicPr>
            <p:cNvPr id="59" name="Picture 58" descr="A white logo on a blue background&#10;&#10;AI-generated content may be incorrect.">
              <a:extLst>
                <a:ext uri="{FF2B5EF4-FFF2-40B4-BE49-F238E27FC236}">
                  <a16:creationId xmlns:a16="http://schemas.microsoft.com/office/drawing/2014/main" id="{2648C5DA-ABD6-E18D-2D9B-3A8222D1D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75000"/>
            </a:blip>
            <a:stretch>
              <a:fillRect/>
            </a:stretch>
          </p:blipFill>
          <p:spPr>
            <a:xfrm>
              <a:off x="7606480" y="1523403"/>
              <a:ext cx="411636" cy="411636"/>
            </a:xfrm>
            <a:prstGeom prst="ellipse">
              <a:avLst/>
            </a:prstGeom>
          </p:spPr>
        </p:pic>
      </p:grpSp>
      <p:sp>
        <p:nvSpPr>
          <p:cNvPr id="1032" name="TextBox 1031">
            <a:extLst>
              <a:ext uri="{FF2B5EF4-FFF2-40B4-BE49-F238E27FC236}">
                <a16:creationId xmlns:a16="http://schemas.microsoft.com/office/drawing/2014/main" id="{12BB0C63-1275-D669-8270-AFDDF4EFCE9A}"/>
              </a:ext>
            </a:extLst>
          </p:cNvPr>
          <p:cNvSpPr txBox="1"/>
          <p:nvPr/>
        </p:nvSpPr>
        <p:spPr>
          <a:xfrm>
            <a:off x="640080" y="2728473"/>
            <a:ext cx="7475678" cy="3116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>
                <a:latin typeface="Barlow Condensed Light" panose="00000406000000000000" pitchFamily="2" charset="0"/>
              </a:rPr>
              <a:t>Frontend: Next.js, React, </a:t>
            </a:r>
            <a:r>
              <a:rPr lang="en-GB" err="1">
                <a:latin typeface="Barlow Condensed Light" panose="00000406000000000000" pitchFamily="2" charset="0"/>
              </a:rPr>
              <a:t>Mantine</a:t>
            </a:r>
            <a:r>
              <a:rPr lang="en-GB">
                <a:latin typeface="Barlow Condensed Light" panose="00000406000000000000" pitchFamily="2" charset="0"/>
              </a:rPr>
              <a:t> UI</a:t>
            </a:r>
          </a:p>
          <a:p>
            <a:pPr marL="285750" indent="-285750" algn="just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>
                <a:latin typeface="Barlow Condensed Light" panose="00000406000000000000" pitchFamily="2" charset="0"/>
              </a:rPr>
              <a:t>Backend: Next.js API routes (full-stack)</a:t>
            </a:r>
          </a:p>
          <a:p>
            <a:pPr marL="285750" indent="-285750" algn="just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>
                <a:latin typeface="Barlow Condensed Light" panose="00000406000000000000" pitchFamily="2" charset="0"/>
              </a:rPr>
              <a:t>Typescript: Strongly Typed Full-Stack Development</a:t>
            </a:r>
          </a:p>
          <a:p>
            <a:pPr marL="285750" indent="-285750" algn="just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>
                <a:latin typeface="Barlow Condensed Light" panose="00000406000000000000" pitchFamily="2" charset="0"/>
              </a:rPr>
              <a:t>Database: PostgreSQL + Prisma ORM</a:t>
            </a:r>
          </a:p>
          <a:p>
            <a:pPr marL="285750" indent="-285750" algn="just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>
                <a:latin typeface="Barlow Condensed Light" panose="00000406000000000000" pitchFamily="2" charset="0"/>
              </a:rPr>
              <a:t>Auth: </a:t>
            </a:r>
            <a:r>
              <a:rPr lang="en-GB" err="1">
                <a:latin typeface="Barlow Condensed Light" panose="00000406000000000000" pitchFamily="2" charset="0"/>
              </a:rPr>
              <a:t>NextAuth</a:t>
            </a:r>
            <a:r>
              <a:rPr lang="en-GB">
                <a:latin typeface="Barlow Condensed Light" panose="00000406000000000000" pitchFamily="2" charset="0"/>
              </a:rPr>
              <a:t> with role-based access</a:t>
            </a:r>
          </a:p>
          <a:p>
            <a:pPr marL="285750" indent="-285750" algn="just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err="1">
                <a:latin typeface="Barlow Condensed Light" panose="00000406000000000000" pitchFamily="2" charset="0"/>
              </a:rPr>
              <a:t>FullCalendar</a:t>
            </a:r>
            <a:r>
              <a:rPr lang="en-GB">
                <a:latin typeface="Barlow Condensed Light" panose="00000406000000000000" pitchFamily="2" charset="0"/>
              </a:rPr>
              <a:t> for scheduling UI</a:t>
            </a:r>
          </a:p>
          <a:p>
            <a:pPr marL="285750" indent="-285750" algn="just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>
                <a:latin typeface="Barlow Condensed Light" panose="00000406000000000000" pitchFamily="2" charset="0"/>
              </a:rPr>
              <a:t>Resend (emails), </a:t>
            </a:r>
            <a:r>
              <a:rPr lang="en-GB" err="1">
                <a:latin typeface="Barlow Condensed Light" panose="00000406000000000000" pitchFamily="2" charset="0"/>
              </a:rPr>
              <a:t>UploadThing</a:t>
            </a:r>
            <a:r>
              <a:rPr lang="en-GB">
                <a:latin typeface="Barlow Condensed Light" panose="00000406000000000000" pitchFamily="2" charset="0"/>
              </a:rPr>
              <a:t> (file uploads)</a:t>
            </a:r>
          </a:p>
          <a:p>
            <a:pPr marL="285750" indent="-285750" algn="just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>
                <a:latin typeface="Barlow Condensed Light" panose="00000406000000000000" pitchFamily="2" charset="0"/>
              </a:rPr>
              <a:t>Deployment via </a:t>
            </a:r>
            <a:r>
              <a:rPr lang="en-GB" err="1">
                <a:latin typeface="Barlow Condensed Light" panose="00000406000000000000" pitchFamily="2" charset="0"/>
              </a:rPr>
              <a:t>Vercel</a:t>
            </a:r>
            <a:r>
              <a:rPr lang="en-GB">
                <a:latin typeface="Barlow Condensed Light" panose="00000406000000000000" pitchFamily="2" charset="0"/>
              </a:rPr>
              <a:t>, AI via OpenAI</a:t>
            </a:r>
          </a:p>
        </p:txBody>
      </p:sp>
    </p:spTree>
    <p:extLst>
      <p:ext uri="{BB962C8B-B14F-4D97-AF65-F5344CB8AC3E}">
        <p14:creationId xmlns:p14="http://schemas.microsoft.com/office/powerpoint/2010/main" val="3218629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73F4F5F-ADF3-F93A-4E12-62F3933F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6896100" cy="914400"/>
          </a:xfrm>
        </p:spPr>
        <p:txBody>
          <a:bodyPr anchor="ctr">
            <a:noAutofit/>
          </a:bodyPr>
          <a:lstStyle/>
          <a:p>
            <a:pPr algn="l"/>
            <a:r>
              <a:rPr lang="fr-CA" sz="3600" b="1">
                <a:solidFill>
                  <a:schemeClr val="bg1"/>
                </a:solidFill>
              </a:rPr>
              <a:t>Major </a:t>
            </a:r>
            <a:r>
              <a:rPr lang="fr-CA" sz="3600" b="1" err="1">
                <a:solidFill>
                  <a:schemeClr val="bg1"/>
                </a:solidFill>
              </a:rPr>
              <a:t>Results</a:t>
            </a:r>
            <a:r>
              <a:rPr lang="fr-CA" sz="3600" b="1">
                <a:solidFill>
                  <a:schemeClr val="bg1"/>
                </a:solidFill>
              </a:rPr>
              <a:t> &amp; </a:t>
            </a:r>
            <a:r>
              <a:rPr lang="fr-CA" sz="3600" b="1" err="1">
                <a:solidFill>
                  <a:schemeClr val="bg1"/>
                </a:solidFill>
              </a:rPr>
              <a:t>Anticipated</a:t>
            </a:r>
            <a:r>
              <a:rPr lang="fr-CA" sz="3600" b="1">
                <a:solidFill>
                  <a:schemeClr val="bg1"/>
                </a:solidFill>
              </a:rPr>
              <a:t> Implications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ED5DF64-C2BF-FB85-C8F5-7A7DDBEC39F7}"/>
              </a:ext>
            </a:extLst>
          </p:cNvPr>
          <p:cNvGrpSpPr/>
          <p:nvPr/>
        </p:nvGrpSpPr>
        <p:grpSpPr>
          <a:xfrm>
            <a:off x="234332" y="1287218"/>
            <a:ext cx="4505308" cy="4283564"/>
            <a:chOff x="66692" y="1287218"/>
            <a:chExt cx="4505308" cy="4283564"/>
          </a:xfrm>
        </p:grpSpPr>
        <p:sp>
          <p:nvSpPr>
            <p:cNvPr id="47" name="object 22">
              <a:extLst>
                <a:ext uri="{FF2B5EF4-FFF2-40B4-BE49-F238E27FC236}">
                  <a16:creationId xmlns:a16="http://schemas.microsoft.com/office/drawing/2014/main" id="{182BCDB3-904E-EE1D-E407-2F66018698C7}"/>
                </a:ext>
              </a:extLst>
            </p:cNvPr>
            <p:cNvSpPr/>
            <p:nvPr/>
          </p:nvSpPr>
          <p:spPr>
            <a:xfrm>
              <a:off x="2369820" y="1287218"/>
              <a:ext cx="2202180" cy="2085682"/>
            </a:xfrm>
            <a:prstGeom prst="roundRect">
              <a:avLst>
                <a:gd name="adj" fmla="val 1038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ctr"/>
            <a:lstStyle/>
            <a:p>
              <a:r>
                <a:rPr lang="en-US" sz="1600" b="1">
                  <a:solidFill>
                    <a:srgbClr val="4E6F05"/>
                  </a:solidFill>
                  <a:latin typeface="Barlow Condensed Light" panose="00000406000000000000" pitchFamily="2" charset="0"/>
                </a:rPr>
                <a:t>Cost Sensitivity</a:t>
              </a:r>
            </a:p>
            <a:p>
              <a:r>
                <a:rPr lang="en-US" sz="1600">
                  <a:latin typeface="Barlow Condensed Light" panose="00000406000000000000" pitchFamily="2" charset="0"/>
                </a:rPr>
                <a:t>The PWA-first strategy emerged as a more sustainable option than separate native mobile apps for internal staff use.</a:t>
              </a:r>
              <a:endParaRPr lang="en-CA" sz="1600">
                <a:latin typeface="Barlow Condensed Light" panose="00000406000000000000" pitchFamily="2" charset="0"/>
              </a:endParaRPr>
            </a:p>
          </p:txBody>
        </p:sp>
        <p:sp>
          <p:nvSpPr>
            <p:cNvPr id="49" name="object 22">
              <a:extLst>
                <a:ext uri="{FF2B5EF4-FFF2-40B4-BE49-F238E27FC236}">
                  <a16:creationId xmlns:a16="http://schemas.microsoft.com/office/drawing/2014/main" id="{F5C63EBB-00F0-21CF-5248-1F9F4EF84B8E}"/>
                </a:ext>
              </a:extLst>
            </p:cNvPr>
            <p:cNvSpPr/>
            <p:nvPr/>
          </p:nvSpPr>
          <p:spPr>
            <a:xfrm>
              <a:off x="66692" y="1287218"/>
              <a:ext cx="2202180" cy="2085682"/>
            </a:xfrm>
            <a:prstGeom prst="roundRect">
              <a:avLst>
                <a:gd name="adj" fmla="val 1071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ctr"/>
            <a:lstStyle/>
            <a:p>
              <a:r>
                <a:rPr lang="en-US" sz="1600" b="1">
                  <a:solidFill>
                    <a:srgbClr val="4E6F05"/>
                  </a:solidFill>
                  <a:latin typeface="Barlow Condensed Light" panose="00000406000000000000" pitchFamily="2" charset="0"/>
                </a:rPr>
                <a:t>Operational Fit</a:t>
              </a:r>
            </a:p>
            <a:p>
              <a:r>
                <a:rPr lang="en-US" sz="1600">
                  <a:latin typeface="Barlow Condensed Light" panose="00000406000000000000" pitchFamily="2" charset="0"/>
                </a:rPr>
                <a:t>The system aligns closely with the real workflow needs of a small business, around scheduling, staff coordination and payroll functions.</a:t>
              </a:r>
            </a:p>
          </p:txBody>
        </p:sp>
        <p:sp>
          <p:nvSpPr>
            <p:cNvPr id="50" name="object 22">
              <a:extLst>
                <a:ext uri="{FF2B5EF4-FFF2-40B4-BE49-F238E27FC236}">
                  <a16:creationId xmlns:a16="http://schemas.microsoft.com/office/drawing/2014/main" id="{D534D500-2557-8765-0E9F-3F43703D1517}"/>
                </a:ext>
              </a:extLst>
            </p:cNvPr>
            <p:cNvSpPr/>
            <p:nvPr/>
          </p:nvSpPr>
          <p:spPr>
            <a:xfrm>
              <a:off x="2369820" y="3485100"/>
              <a:ext cx="2202180" cy="2085682"/>
            </a:xfrm>
            <a:prstGeom prst="roundRect">
              <a:avLst>
                <a:gd name="adj" fmla="val 9722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ctr"/>
            <a:lstStyle/>
            <a:p>
              <a:r>
                <a:rPr lang="en-US" sz="1600" b="1">
                  <a:solidFill>
                    <a:srgbClr val="4E6F05"/>
                  </a:solidFill>
                  <a:latin typeface="Barlow Condensed Light" panose="00000406000000000000" pitchFamily="2" charset="0"/>
                </a:rPr>
                <a:t>Deployment Reality</a:t>
              </a:r>
            </a:p>
            <a:p>
              <a:r>
                <a:rPr lang="en-US" sz="1600">
                  <a:latin typeface="Barlow Condensed Light" panose="00000406000000000000" pitchFamily="2" charset="0"/>
                </a:rPr>
                <a:t>Cloud deployment revealed challenges in schema migration, environment setup, and TypeScript validation.</a:t>
              </a:r>
            </a:p>
          </p:txBody>
        </p:sp>
        <p:sp>
          <p:nvSpPr>
            <p:cNvPr id="51" name="object 22">
              <a:extLst>
                <a:ext uri="{FF2B5EF4-FFF2-40B4-BE49-F238E27FC236}">
                  <a16:creationId xmlns:a16="http://schemas.microsoft.com/office/drawing/2014/main" id="{2B5B7518-6B31-BDF1-E640-23EBB052F540}"/>
                </a:ext>
              </a:extLst>
            </p:cNvPr>
            <p:cNvSpPr/>
            <p:nvPr/>
          </p:nvSpPr>
          <p:spPr>
            <a:xfrm>
              <a:off x="66692" y="3485100"/>
              <a:ext cx="2202180" cy="2085682"/>
            </a:xfrm>
            <a:prstGeom prst="roundRect">
              <a:avLst>
                <a:gd name="adj" fmla="val 1005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ctr"/>
            <a:lstStyle/>
            <a:p>
              <a:r>
                <a:rPr lang="en-US" sz="1600" b="1">
                  <a:solidFill>
                    <a:srgbClr val="4E6F05"/>
                  </a:solidFill>
                  <a:latin typeface="Barlow Condensed Light" panose="00000406000000000000" pitchFamily="2" charset="0"/>
                </a:rPr>
                <a:t>Architecture Matters</a:t>
              </a:r>
            </a:p>
            <a:p>
              <a:r>
                <a:rPr lang="en-US" sz="1600">
                  <a:latin typeface="Barlow Condensed Light" panose="00000406000000000000" pitchFamily="2" charset="0"/>
                </a:rPr>
                <a:t>A unified Next.js full-stack approach, simplified UI–API, co-location, improving maintainability and reducing complexity.</a:t>
              </a:r>
              <a:endParaRPr lang="en-CA" sz="1600">
                <a:latin typeface="Barlow Condensed Light" panose="00000406000000000000" pitchFamily="2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9684F4DF-557F-42B1-534F-4FB39DC9F905}"/>
              </a:ext>
            </a:extLst>
          </p:cNvPr>
          <p:cNvSpPr txBox="1"/>
          <p:nvPr/>
        </p:nvSpPr>
        <p:spPr>
          <a:xfrm>
            <a:off x="4894628" y="2104493"/>
            <a:ext cx="5283104" cy="2155453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marL="12700" marR="1175385" defTabSz="2514600">
              <a:lnSpc>
                <a:spcPct val="150000"/>
              </a:lnSpc>
              <a:spcBef>
                <a:spcPts val="90"/>
              </a:spcBef>
            </a:pPr>
            <a:r>
              <a:rPr lang="en-CA" b="0" i="0">
                <a:solidFill>
                  <a:srgbClr val="4E6F05"/>
                </a:solidFill>
                <a:effectLst/>
                <a:latin typeface="Google Sans"/>
              </a:rPr>
              <a:t>✔</a:t>
            </a:r>
            <a:r>
              <a:rPr lang="en-CA" b="0" i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en-US" sz="1800">
                <a:latin typeface="Barlow Condensed Light" panose="00000406000000000000" pitchFamily="2" charset="0"/>
                <a:cs typeface="Tahoma"/>
              </a:rPr>
              <a:t>Improved workforce coordination and visibility</a:t>
            </a:r>
          </a:p>
          <a:p>
            <a:pPr marL="12700" marR="1175385" defTabSz="2514600">
              <a:lnSpc>
                <a:spcPct val="150000"/>
              </a:lnSpc>
              <a:spcBef>
                <a:spcPts val="90"/>
              </a:spcBef>
            </a:pPr>
            <a:r>
              <a:rPr lang="en-CA" b="0" i="0">
                <a:solidFill>
                  <a:srgbClr val="4E6F05"/>
                </a:solidFill>
                <a:effectLst/>
                <a:latin typeface="Google Sans"/>
              </a:rPr>
              <a:t>✔ </a:t>
            </a:r>
            <a:r>
              <a:rPr lang="en-US" sz="1800">
                <a:latin typeface="Barlow Condensed Light" panose="00000406000000000000" pitchFamily="2" charset="0"/>
                <a:cs typeface="Tahoma"/>
              </a:rPr>
              <a:t>Reduced manual scheduling effort</a:t>
            </a:r>
          </a:p>
          <a:p>
            <a:pPr marL="12700" marR="1175385" defTabSz="2514600">
              <a:lnSpc>
                <a:spcPct val="150000"/>
              </a:lnSpc>
              <a:spcBef>
                <a:spcPts val="90"/>
              </a:spcBef>
            </a:pPr>
            <a:r>
              <a:rPr lang="en-CA" b="0" i="0">
                <a:solidFill>
                  <a:srgbClr val="4E6F05"/>
                </a:solidFill>
                <a:effectLst/>
                <a:latin typeface="Google Sans"/>
              </a:rPr>
              <a:t>✔ </a:t>
            </a:r>
            <a:r>
              <a:rPr lang="en-US" sz="1800">
                <a:latin typeface="Barlow Condensed Light" panose="00000406000000000000" pitchFamily="2" charset="0"/>
                <a:cs typeface="Tahoma"/>
              </a:rPr>
              <a:t>More accurate staff time tracking </a:t>
            </a:r>
          </a:p>
          <a:p>
            <a:pPr marL="12700" marR="1175385" defTabSz="2514600">
              <a:lnSpc>
                <a:spcPct val="150000"/>
              </a:lnSpc>
              <a:spcBef>
                <a:spcPts val="90"/>
              </a:spcBef>
            </a:pPr>
            <a:r>
              <a:rPr lang="en-CA" b="0" i="0">
                <a:solidFill>
                  <a:srgbClr val="4E6F05"/>
                </a:solidFill>
                <a:effectLst/>
                <a:latin typeface="Google Sans"/>
              </a:rPr>
              <a:t>✔ </a:t>
            </a:r>
            <a:r>
              <a:rPr lang="en-US" sz="1800">
                <a:latin typeface="Barlow Condensed Light" panose="00000406000000000000" pitchFamily="2" charset="0"/>
                <a:cs typeface="Tahoma"/>
              </a:rPr>
              <a:t>Better organizational transparency</a:t>
            </a:r>
          </a:p>
          <a:p>
            <a:pPr marL="12700" marR="1175385" defTabSz="2514600">
              <a:lnSpc>
                <a:spcPct val="150000"/>
              </a:lnSpc>
              <a:spcBef>
                <a:spcPts val="90"/>
              </a:spcBef>
            </a:pPr>
            <a:r>
              <a:rPr lang="en-CA" b="0" i="0">
                <a:solidFill>
                  <a:srgbClr val="4E6F05"/>
                </a:solidFill>
                <a:effectLst/>
                <a:latin typeface="Google Sans"/>
              </a:rPr>
              <a:t>✔ </a:t>
            </a:r>
            <a:r>
              <a:rPr lang="en-US" sz="1800">
                <a:latin typeface="Barlow Condensed Light" panose="00000406000000000000" pitchFamily="2" charset="0"/>
                <a:cs typeface="Tahoma"/>
              </a:rPr>
              <a:t>Scalable digital foundation for future automation</a:t>
            </a:r>
          </a:p>
        </p:txBody>
      </p:sp>
    </p:spTree>
    <p:extLst>
      <p:ext uri="{BB962C8B-B14F-4D97-AF65-F5344CB8AC3E}">
        <p14:creationId xmlns:p14="http://schemas.microsoft.com/office/powerpoint/2010/main" val="248198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73F4F5F-ADF3-F93A-4E12-62F3933F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7033260" cy="914400"/>
          </a:xfrm>
        </p:spPr>
        <p:txBody>
          <a:bodyPr anchor="ctr">
            <a:normAutofit/>
          </a:bodyPr>
          <a:lstStyle/>
          <a:p>
            <a:pPr algn="l"/>
            <a:r>
              <a:rPr lang="fr-CA" b="1">
                <a:solidFill>
                  <a:schemeClr val="bg1"/>
                </a:solidFill>
              </a:rPr>
              <a:t>Key </a:t>
            </a:r>
            <a:r>
              <a:rPr lang="fr-CA" b="1" err="1">
                <a:solidFill>
                  <a:schemeClr val="bg1"/>
                </a:solidFill>
              </a:rPr>
              <a:t>Features</a:t>
            </a:r>
            <a:endParaRPr lang="fr-CA" b="1">
              <a:solidFill>
                <a:schemeClr val="bg1"/>
              </a:solidFill>
            </a:endParaRPr>
          </a:p>
        </p:txBody>
      </p:sp>
      <p:pic>
        <p:nvPicPr>
          <p:cNvPr id="2" name="object 27">
            <a:extLst>
              <a:ext uri="{FF2B5EF4-FFF2-40B4-BE49-F238E27FC236}">
                <a16:creationId xmlns:a16="http://schemas.microsoft.com/office/drawing/2014/main" id="{7496FCA8-B4F2-0EF7-E8B9-AA89A4E7976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001" y="1929202"/>
            <a:ext cx="4635359" cy="2889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C50CC5-7D3D-A502-10BE-94744C62E57E}"/>
              </a:ext>
            </a:extLst>
          </p:cNvPr>
          <p:cNvSpPr txBox="1"/>
          <p:nvPr/>
        </p:nvSpPr>
        <p:spPr>
          <a:xfrm>
            <a:off x="4930140" y="2145818"/>
            <a:ext cx="3931920" cy="260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marR="1175385" indent="-285750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1800">
                <a:latin typeface="Barlow Condensed Light" panose="00000406000000000000" pitchFamily="2" charset="0"/>
                <a:cs typeface="Tahoma"/>
              </a:rPr>
              <a:t>Workforce Scheduling </a:t>
            </a:r>
          </a:p>
          <a:p>
            <a:pPr marL="298450" marR="1175385" indent="-285750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1800">
                <a:latin typeface="Barlow Condensed Light" panose="00000406000000000000" pitchFamily="2" charset="0"/>
                <a:cs typeface="Tahoma"/>
              </a:rPr>
              <a:t>Mobile Staff Workflow (PWA)</a:t>
            </a:r>
          </a:p>
          <a:p>
            <a:pPr marL="298450" marR="508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>
                <a:latin typeface="Barlow Condensed Light" panose="00000406000000000000" pitchFamily="2" charset="0"/>
                <a:cs typeface="Tahoma"/>
              </a:rPr>
              <a:t>Time Tracking &amp; Operational Transparency </a:t>
            </a:r>
          </a:p>
          <a:p>
            <a:pPr marL="298450" marR="508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>
                <a:latin typeface="Barlow Condensed Light" panose="00000406000000000000" pitchFamily="2" charset="0"/>
                <a:cs typeface="Tahoma"/>
              </a:rPr>
              <a:t>Payroll Management</a:t>
            </a:r>
          </a:p>
          <a:p>
            <a:pPr marL="298450" indent="-285750">
              <a:lnSpc>
                <a:spcPct val="150000"/>
              </a:lnSpc>
              <a:spcBef>
                <a:spcPts val="385"/>
              </a:spcBef>
              <a:buFont typeface="Arial" panose="020B0604020202020204" pitchFamily="34" charset="0"/>
              <a:buChar char="•"/>
            </a:pPr>
            <a:r>
              <a:rPr lang="en-US" sz="1800">
                <a:latin typeface="Barlow Condensed Light" panose="00000406000000000000" pitchFamily="2" charset="0"/>
                <a:cs typeface="Tahoma"/>
              </a:rPr>
              <a:t>Automated Emails for Clients</a:t>
            </a:r>
          </a:p>
          <a:p>
            <a:pPr marL="298450" marR="1175385" indent="-285750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1800">
                <a:latin typeface="Barlow Condensed Light" panose="00000406000000000000" pitchFamily="2" charset="0"/>
                <a:cs typeface="Tahoma"/>
              </a:rPr>
              <a:t>AI-Powered Task Assistance</a:t>
            </a:r>
          </a:p>
        </p:txBody>
      </p:sp>
    </p:spTree>
    <p:extLst>
      <p:ext uri="{BB962C8B-B14F-4D97-AF65-F5344CB8AC3E}">
        <p14:creationId xmlns:p14="http://schemas.microsoft.com/office/powerpoint/2010/main" val="2716070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73F4F5F-ADF3-F93A-4E12-62F3933F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7033260" cy="914400"/>
          </a:xfrm>
        </p:spPr>
        <p:txBody>
          <a:bodyPr anchor="ctr">
            <a:normAutofit/>
          </a:bodyPr>
          <a:lstStyle/>
          <a:p>
            <a:pPr algn="l"/>
            <a:r>
              <a:rPr lang="fr-CA" b="1">
                <a:solidFill>
                  <a:schemeClr val="bg1"/>
                </a:solidFill>
              </a:rPr>
              <a:t>Challenges </a:t>
            </a:r>
            <a:r>
              <a:rPr lang="fr-CA" b="1" err="1">
                <a:solidFill>
                  <a:schemeClr val="bg1"/>
                </a:solidFill>
              </a:rPr>
              <a:t>Encountered</a:t>
            </a:r>
            <a:endParaRPr lang="fr-CA" b="1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B7BF52-B54D-260B-7F95-29A3F387D2B6}"/>
              </a:ext>
            </a:extLst>
          </p:cNvPr>
          <p:cNvSpPr txBox="1"/>
          <p:nvPr/>
        </p:nvSpPr>
        <p:spPr>
          <a:xfrm>
            <a:off x="640079" y="914400"/>
            <a:ext cx="3872503" cy="5721002"/>
          </a:xfrm>
          <a:prstGeom prst="rect">
            <a:avLst/>
          </a:prstGeom>
          <a:noFill/>
        </p:spPr>
        <p:txBody>
          <a:bodyPr wrap="none" lIns="36000" tIns="36000" rIns="36000" bIns="36000" anchor="ctr">
            <a:noAutofit/>
          </a:bodyPr>
          <a:lstStyle/>
          <a:p>
            <a:pPr marL="12700" marR="1175385" algn="r" defTabSz="2514600">
              <a:lnSpc>
                <a:spcPct val="350000"/>
              </a:lnSpc>
              <a:spcBef>
                <a:spcPts val="90"/>
              </a:spcBef>
            </a:pPr>
            <a:r>
              <a:rPr lang="en-CA" b="1">
                <a:solidFill>
                  <a:srgbClr val="4E6F05"/>
                </a:solidFill>
                <a:latin typeface="Barlow Condensed Light" panose="00000406000000000000" pitchFamily="2" charset="0"/>
              </a:rPr>
              <a:t>🗄️ Database Migration Conflicts</a:t>
            </a:r>
          </a:p>
          <a:p>
            <a:pPr marL="12700" marR="1175385" algn="r" defTabSz="2514600">
              <a:lnSpc>
                <a:spcPct val="350000"/>
              </a:lnSpc>
              <a:spcBef>
                <a:spcPts val="90"/>
              </a:spcBef>
            </a:pPr>
            <a:r>
              <a:rPr lang="en-CA" b="1">
                <a:solidFill>
                  <a:srgbClr val="4E6F05"/>
                </a:solidFill>
                <a:latin typeface="Barlow Condensed Light" panose="00000406000000000000" pitchFamily="2" charset="0"/>
              </a:rPr>
              <a:t>🔐 Authentication </a:t>
            </a:r>
          </a:p>
          <a:p>
            <a:pPr marL="12700" marR="1175385" algn="r" defTabSz="2514600">
              <a:lnSpc>
                <a:spcPct val="350000"/>
              </a:lnSpc>
              <a:spcBef>
                <a:spcPts val="90"/>
              </a:spcBef>
            </a:pPr>
            <a:r>
              <a:rPr lang="en-CA" b="1">
                <a:solidFill>
                  <a:srgbClr val="4E6F05"/>
                </a:solidFill>
                <a:latin typeface="Barlow Condensed Light" panose="00000406000000000000" pitchFamily="2" charset="0"/>
              </a:rPr>
              <a:t>🚀 Deployment (</a:t>
            </a:r>
            <a:r>
              <a:rPr lang="en-CA" b="1" err="1">
                <a:solidFill>
                  <a:srgbClr val="4E6F05"/>
                </a:solidFill>
                <a:latin typeface="Barlow Condensed Light" panose="00000406000000000000" pitchFamily="2" charset="0"/>
              </a:rPr>
              <a:t>Vercel</a:t>
            </a:r>
            <a:r>
              <a:rPr lang="en-CA" b="1">
                <a:solidFill>
                  <a:srgbClr val="4E6F05"/>
                </a:solidFill>
                <a:latin typeface="Barlow Condensed Light" panose="00000406000000000000" pitchFamily="2" charset="0"/>
              </a:rPr>
              <a:t>) </a:t>
            </a:r>
            <a:endParaRPr lang="en-CA">
              <a:latin typeface="Barlow Condensed Light" panose="00000406000000000000" pitchFamily="2" charset="0"/>
            </a:endParaRPr>
          </a:p>
          <a:p>
            <a:pPr marL="12700" marR="1175385" algn="r" defTabSz="2514600">
              <a:lnSpc>
                <a:spcPct val="350000"/>
              </a:lnSpc>
              <a:spcBef>
                <a:spcPts val="90"/>
              </a:spcBef>
            </a:pPr>
            <a:r>
              <a:rPr lang="en-CA" b="1">
                <a:solidFill>
                  <a:srgbClr val="4E6F05"/>
                </a:solidFill>
                <a:latin typeface="Barlow Condensed Light" panose="00000406000000000000" pitchFamily="2" charset="0"/>
              </a:rPr>
              <a:t>💰 Payroll Complexity</a:t>
            </a:r>
          </a:p>
          <a:p>
            <a:pPr marL="12700" marR="1175385" algn="r" defTabSz="2514600">
              <a:lnSpc>
                <a:spcPct val="350000"/>
              </a:lnSpc>
              <a:spcBef>
                <a:spcPts val="90"/>
              </a:spcBef>
            </a:pPr>
            <a:r>
              <a:rPr lang="en-CA" b="1">
                <a:solidFill>
                  <a:srgbClr val="4E6F05"/>
                </a:solidFill>
                <a:latin typeface="Barlow Condensed Light" panose="00000406000000000000" pitchFamily="2" charset="0"/>
              </a:rPr>
              <a:t>🌍 Time Zone </a:t>
            </a:r>
          </a:p>
        </p:txBody>
      </p:sp>
      <p:sp>
        <p:nvSpPr>
          <p:cNvPr id="4" name="Teardrop 3">
            <a:extLst>
              <a:ext uri="{FF2B5EF4-FFF2-40B4-BE49-F238E27FC236}">
                <a16:creationId xmlns:a16="http://schemas.microsoft.com/office/drawing/2014/main" id="{3A68D5DA-B938-8B99-8731-1BBB370BF04A}"/>
              </a:ext>
            </a:extLst>
          </p:cNvPr>
          <p:cNvSpPr/>
          <p:nvPr/>
        </p:nvSpPr>
        <p:spPr>
          <a:xfrm rot="13512822">
            <a:off x="3574930" y="1618208"/>
            <a:ext cx="924591" cy="924591"/>
          </a:xfrm>
          <a:prstGeom prst="teardrop">
            <a:avLst/>
          </a:prstGeom>
          <a:solidFill>
            <a:srgbClr val="5FAF2E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760D3B-06C6-2A6D-CE0E-0DE0238D8B7D}"/>
              </a:ext>
            </a:extLst>
          </p:cNvPr>
          <p:cNvSpPr/>
          <p:nvPr/>
        </p:nvSpPr>
        <p:spPr>
          <a:xfrm>
            <a:off x="3758531" y="1616413"/>
            <a:ext cx="4944482" cy="928181"/>
          </a:xfrm>
          <a:prstGeom prst="roundRect">
            <a:avLst>
              <a:gd name="adj" fmla="val 32639"/>
            </a:avLst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469900" marR="1175385" lvl="1" defTabSz="2514600"/>
            <a:endParaRPr lang="en-CA">
              <a:solidFill>
                <a:schemeClr val="tx1"/>
              </a:solidFill>
              <a:latin typeface="Barlow Condensed Light" panose="00000406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5EEF82-08FA-77E6-2C13-5FABF737D210}"/>
              </a:ext>
            </a:extLst>
          </p:cNvPr>
          <p:cNvSpPr txBox="1"/>
          <p:nvPr/>
        </p:nvSpPr>
        <p:spPr>
          <a:xfrm>
            <a:off x="3416172" y="1616413"/>
            <a:ext cx="4647253" cy="928181"/>
          </a:xfrm>
          <a:prstGeom prst="rect">
            <a:avLst/>
          </a:prstGeom>
          <a:noFill/>
          <a:effectLst/>
        </p:spPr>
        <p:txBody>
          <a:bodyPr wrap="none" lIns="0" rIns="0" rtlCol="0" anchor="ctr">
            <a:noAutofit/>
          </a:bodyPr>
          <a:lstStyle/>
          <a:p>
            <a:pPr marL="469900" marR="1175385" lvl="1" defTabSz="2514600"/>
            <a:r>
              <a:rPr lang="en-CA">
                <a:latin typeface="Barlow Condensed Light" panose="00000406000000000000" pitchFamily="2" charset="0"/>
              </a:rPr>
              <a:t>⚠️ Multiple schema versions caused inconsistencies</a:t>
            </a:r>
          </a:p>
          <a:p>
            <a:pPr marL="469900" marR="1175385" lvl="1" defTabSz="2514600"/>
            <a:r>
              <a:rPr lang="en-CA">
                <a:solidFill>
                  <a:srgbClr val="4E6F05"/>
                </a:solidFill>
                <a:latin typeface="Barlow Condensed Light" panose="00000406000000000000" pitchFamily="2" charset="0"/>
              </a:rPr>
              <a:t>✔</a:t>
            </a:r>
            <a:r>
              <a:rPr lang="en-CA">
                <a:latin typeface="Barlow Condensed Light" panose="00000406000000000000" pitchFamily="2" charset="0"/>
              </a:rPr>
              <a:t> Unified schema + stabilized Prisma migrations</a:t>
            </a:r>
          </a:p>
        </p:txBody>
      </p:sp>
      <p:sp>
        <p:nvSpPr>
          <p:cNvPr id="20" name="Teardrop 19">
            <a:extLst>
              <a:ext uri="{FF2B5EF4-FFF2-40B4-BE49-F238E27FC236}">
                <a16:creationId xmlns:a16="http://schemas.microsoft.com/office/drawing/2014/main" id="{0E82BA4B-A9BC-5E87-E8C1-6CB6CEBD1FE1}"/>
              </a:ext>
            </a:extLst>
          </p:cNvPr>
          <p:cNvSpPr/>
          <p:nvPr/>
        </p:nvSpPr>
        <p:spPr>
          <a:xfrm rot="13512822">
            <a:off x="3557748" y="2596021"/>
            <a:ext cx="924591" cy="924591"/>
          </a:xfrm>
          <a:prstGeom prst="teardrop">
            <a:avLst/>
          </a:prstGeom>
          <a:solidFill>
            <a:srgbClr val="5FAF2E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3B8612F-BEE3-8319-A968-425E5C829C42}"/>
              </a:ext>
            </a:extLst>
          </p:cNvPr>
          <p:cNvSpPr/>
          <p:nvPr/>
        </p:nvSpPr>
        <p:spPr>
          <a:xfrm>
            <a:off x="3741349" y="2594226"/>
            <a:ext cx="4944482" cy="928181"/>
          </a:xfrm>
          <a:prstGeom prst="roundRect">
            <a:avLst>
              <a:gd name="adj" fmla="val 32639"/>
            </a:avLst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469900" marR="1175385" lvl="1" defTabSz="2514600"/>
            <a:endParaRPr lang="en-CA">
              <a:solidFill>
                <a:schemeClr val="tx1"/>
              </a:solidFill>
              <a:latin typeface="Barlow Condensed Light" panose="00000406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6952B9-4E96-F24F-69E3-4153551529DD}"/>
              </a:ext>
            </a:extLst>
          </p:cNvPr>
          <p:cNvSpPr txBox="1"/>
          <p:nvPr/>
        </p:nvSpPr>
        <p:spPr>
          <a:xfrm>
            <a:off x="3398990" y="2594226"/>
            <a:ext cx="4647253" cy="928181"/>
          </a:xfrm>
          <a:prstGeom prst="rect">
            <a:avLst/>
          </a:prstGeom>
          <a:noFill/>
          <a:effectLst/>
        </p:spPr>
        <p:txBody>
          <a:bodyPr wrap="none" lIns="0" rIns="0" rtlCol="0" anchor="ctr">
            <a:noAutofit/>
          </a:bodyPr>
          <a:lstStyle/>
          <a:p>
            <a:pPr marL="469900" marR="1175385" lvl="1" defTabSz="2514600"/>
            <a:r>
              <a:rPr lang="en-CA">
                <a:latin typeface="Barlow Condensed Light" panose="00000406000000000000" pitchFamily="2" charset="0"/>
              </a:rPr>
              <a:t>⚠️ </a:t>
            </a:r>
            <a:r>
              <a:rPr lang="en-CA" err="1">
                <a:latin typeface="Barlow Condensed Light" panose="00000406000000000000" pitchFamily="2" charset="0"/>
              </a:rPr>
              <a:t>IssuesSession</a:t>
            </a:r>
            <a:r>
              <a:rPr lang="en-CA">
                <a:latin typeface="Barlow Condensed Light" panose="00000406000000000000" pitchFamily="2" charset="0"/>
              </a:rPr>
              <a:t> mismatch &amp; incorrect role assignments</a:t>
            </a:r>
          </a:p>
          <a:p>
            <a:pPr marL="469900" marR="1175385" lvl="1" defTabSz="2514600"/>
            <a:r>
              <a:rPr lang="en-CA">
                <a:latin typeface="Barlow Condensed Light" panose="00000406000000000000" pitchFamily="2" charset="0"/>
              </a:rPr>
              <a:t>✔ Rebuilt </a:t>
            </a:r>
            <a:r>
              <a:rPr lang="en-CA" err="1">
                <a:latin typeface="Barlow Condensed Light" panose="00000406000000000000" pitchFamily="2" charset="0"/>
              </a:rPr>
              <a:t>NextAuth</a:t>
            </a:r>
            <a:r>
              <a:rPr lang="en-CA">
                <a:latin typeface="Barlow Condensed Light" panose="00000406000000000000" pitchFamily="2" charset="0"/>
              </a:rPr>
              <a:t> + enforced role-based access</a:t>
            </a:r>
          </a:p>
        </p:txBody>
      </p:sp>
      <p:sp>
        <p:nvSpPr>
          <p:cNvPr id="25" name="Teardrop 24">
            <a:extLst>
              <a:ext uri="{FF2B5EF4-FFF2-40B4-BE49-F238E27FC236}">
                <a16:creationId xmlns:a16="http://schemas.microsoft.com/office/drawing/2014/main" id="{5CF557CC-5CC3-2187-AE11-F23C17BFC411}"/>
              </a:ext>
            </a:extLst>
          </p:cNvPr>
          <p:cNvSpPr/>
          <p:nvPr/>
        </p:nvSpPr>
        <p:spPr>
          <a:xfrm rot="13512822">
            <a:off x="3574930" y="3573834"/>
            <a:ext cx="924591" cy="924591"/>
          </a:xfrm>
          <a:prstGeom prst="teardrop">
            <a:avLst/>
          </a:prstGeom>
          <a:solidFill>
            <a:srgbClr val="5FAF2E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2320716-4F8A-9342-B7B2-9431FC430CB9}"/>
              </a:ext>
            </a:extLst>
          </p:cNvPr>
          <p:cNvSpPr/>
          <p:nvPr/>
        </p:nvSpPr>
        <p:spPr>
          <a:xfrm>
            <a:off x="3758531" y="3572039"/>
            <a:ext cx="4944482" cy="928181"/>
          </a:xfrm>
          <a:prstGeom prst="roundRect">
            <a:avLst>
              <a:gd name="adj" fmla="val 32639"/>
            </a:avLst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469900" marR="1175385" lvl="1" defTabSz="2514600"/>
            <a:endParaRPr lang="en-CA">
              <a:solidFill>
                <a:schemeClr val="tx1"/>
              </a:solidFill>
              <a:latin typeface="Barlow Condensed Light" panose="00000406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9513F4-F331-411D-A83D-C5F284015BA0}"/>
              </a:ext>
            </a:extLst>
          </p:cNvPr>
          <p:cNvSpPr txBox="1"/>
          <p:nvPr/>
        </p:nvSpPr>
        <p:spPr>
          <a:xfrm>
            <a:off x="3416172" y="3572039"/>
            <a:ext cx="4647253" cy="928181"/>
          </a:xfrm>
          <a:prstGeom prst="rect">
            <a:avLst/>
          </a:prstGeom>
          <a:noFill/>
          <a:effectLst/>
        </p:spPr>
        <p:txBody>
          <a:bodyPr wrap="none" lIns="0" rIns="0" rtlCol="0" anchor="ctr">
            <a:noAutofit/>
          </a:bodyPr>
          <a:lstStyle/>
          <a:p>
            <a:pPr marL="469900" marR="1175385" lvl="1" defTabSz="2514600"/>
            <a:r>
              <a:rPr lang="en-CA">
                <a:latin typeface="Barlow Condensed Light" panose="00000406000000000000" pitchFamily="2" charset="0"/>
              </a:rPr>
              <a:t>⚠️ TypeScript errors &amp; environment mismatches</a:t>
            </a:r>
          </a:p>
          <a:p>
            <a:pPr marL="469900" marR="1175385" lvl="1" defTabSz="2514600"/>
            <a:r>
              <a:rPr lang="en-CA">
                <a:latin typeface="Barlow Condensed Light" panose="00000406000000000000" pitchFamily="2" charset="0"/>
              </a:rPr>
              <a:t>✔ Improved type safety + standardized env variables</a:t>
            </a:r>
          </a:p>
        </p:txBody>
      </p:sp>
      <p:sp>
        <p:nvSpPr>
          <p:cNvPr id="30" name="Teardrop 29">
            <a:extLst>
              <a:ext uri="{FF2B5EF4-FFF2-40B4-BE49-F238E27FC236}">
                <a16:creationId xmlns:a16="http://schemas.microsoft.com/office/drawing/2014/main" id="{0602743E-257B-9164-F617-AB7D43746849}"/>
              </a:ext>
            </a:extLst>
          </p:cNvPr>
          <p:cNvSpPr/>
          <p:nvPr/>
        </p:nvSpPr>
        <p:spPr>
          <a:xfrm rot="13512822">
            <a:off x="3574930" y="4551647"/>
            <a:ext cx="924591" cy="924591"/>
          </a:xfrm>
          <a:prstGeom prst="teardrop">
            <a:avLst/>
          </a:prstGeom>
          <a:solidFill>
            <a:srgbClr val="5FAF2E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CD8D972-54EE-B122-BB78-246A3B7B8ABE}"/>
              </a:ext>
            </a:extLst>
          </p:cNvPr>
          <p:cNvSpPr/>
          <p:nvPr/>
        </p:nvSpPr>
        <p:spPr>
          <a:xfrm>
            <a:off x="3758531" y="4549852"/>
            <a:ext cx="4944482" cy="928181"/>
          </a:xfrm>
          <a:prstGeom prst="roundRect">
            <a:avLst>
              <a:gd name="adj" fmla="val 32639"/>
            </a:avLst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469900" marR="1175385" lvl="1" defTabSz="2514600"/>
            <a:endParaRPr lang="en-CA">
              <a:solidFill>
                <a:schemeClr val="tx1"/>
              </a:solidFill>
              <a:latin typeface="Barlow Condensed Light" panose="00000406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263A13-4A1E-63DA-C644-734C21AAE7F8}"/>
              </a:ext>
            </a:extLst>
          </p:cNvPr>
          <p:cNvSpPr txBox="1"/>
          <p:nvPr/>
        </p:nvSpPr>
        <p:spPr>
          <a:xfrm>
            <a:off x="3416172" y="4549852"/>
            <a:ext cx="4647253" cy="928181"/>
          </a:xfrm>
          <a:prstGeom prst="rect">
            <a:avLst/>
          </a:prstGeom>
          <a:noFill/>
          <a:effectLst/>
        </p:spPr>
        <p:txBody>
          <a:bodyPr wrap="none" lIns="0" rIns="0" rtlCol="0" anchor="ctr">
            <a:noAutofit/>
          </a:bodyPr>
          <a:lstStyle/>
          <a:p>
            <a:pPr marL="469900" marR="1175385" lvl="1" defTabSz="2514600"/>
            <a:r>
              <a:rPr lang="en-CA">
                <a:latin typeface="Barlow Condensed Light" panose="00000406000000000000" pitchFamily="2" charset="0"/>
              </a:rPr>
              <a:t>⚠️ No APIs for Canadian/Quebec payroll rules</a:t>
            </a:r>
          </a:p>
          <a:p>
            <a:pPr marL="469900" marR="1175385" lvl="1" defTabSz="2514600"/>
            <a:r>
              <a:rPr lang="en-CA">
                <a:latin typeface="Barlow Condensed Light" panose="00000406000000000000" pitchFamily="2" charset="0"/>
              </a:rPr>
              <a:t>✔ Built custom logic + manual override system</a:t>
            </a:r>
          </a:p>
        </p:txBody>
      </p:sp>
      <p:sp>
        <p:nvSpPr>
          <p:cNvPr id="35" name="Teardrop 34">
            <a:extLst>
              <a:ext uri="{FF2B5EF4-FFF2-40B4-BE49-F238E27FC236}">
                <a16:creationId xmlns:a16="http://schemas.microsoft.com/office/drawing/2014/main" id="{021EA5C9-06DB-8C18-5DBF-52DC8AE8C2E7}"/>
              </a:ext>
            </a:extLst>
          </p:cNvPr>
          <p:cNvSpPr/>
          <p:nvPr/>
        </p:nvSpPr>
        <p:spPr>
          <a:xfrm rot="13512822">
            <a:off x="3574930" y="5529461"/>
            <a:ext cx="924591" cy="924591"/>
          </a:xfrm>
          <a:prstGeom prst="teardrop">
            <a:avLst/>
          </a:prstGeom>
          <a:solidFill>
            <a:srgbClr val="5FA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1D37D29-9296-934F-F678-572FF01D8D66}"/>
              </a:ext>
            </a:extLst>
          </p:cNvPr>
          <p:cNvSpPr/>
          <p:nvPr/>
        </p:nvSpPr>
        <p:spPr>
          <a:xfrm>
            <a:off x="3758531" y="5527666"/>
            <a:ext cx="4944482" cy="928181"/>
          </a:xfrm>
          <a:prstGeom prst="roundRect">
            <a:avLst>
              <a:gd name="adj" fmla="val 32639"/>
            </a:avLst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469900" marR="1175385" lvl="1" defTabSz="2514600"/>
            <a:endParaRPr lang="en-CA">
              <a:solidFill>
                <a:schemeClr val="tx1"/>
              </a:solidFill>
              <a:latin typeface="Barlow Condensed Light" panose="0000040600000000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BDFF8F-580D-8271-65D9-659E46A2E46B}"/>
              </a:ext>
            </a:extLst>
          </p:cNvPr>
          <p:cNvSpPr txBox="1"/>
          <p:nvPr/>
        </p:nvSpPr>
        <p:spPr>
          <a:xfrm>
            <a:off x="3416172" y="5527666"/>
            <a:ext cx="4647253" cy="928181"/>
          </a:xfrm>
          <a:prstGeom prst="rect">
            <a:avLst/>
          </a:prstGeom>
          <a:noFill/>
          <a:effectLst/>
        </p:spPr>
        <p:txBody>
          <a:bodyPr wrap="none" lIns="0" rIns="0" rtlCol="0" anchor="ctr">
            <a:noAutofit/>
          </a:bodyPr>
          <a:lstStyle/>
          <a:p>
            <a:pPr marL="469900" marR="1175385" lvl="1" defTabSz="2514600"/>
            <a:r>
              <a:rPr lang="en-CA">
                <a:latin typeface="Barlow Condensed Light" panose="00000406000000000000" pitchFamily="2" charset="0"/>
              </a:rPr>
              <a:t>⚠️ </a:t>
            </a:r>
            <a:r>
              <a:rPr lang="en-CA" err="1">
                <a:latin typeface="Barlow Condensed Light" panose="00000406000000000000" pitchFamily="2" charset="0"/>
              </a:rPr>
              <a:t>HandlingPST</a:t>
            </a:r>
            <a:r>
              <a:rPr lang="en-CA">
                <a:latin typeface="Barlow Condensed Light" panose="00000406000000000000" pitchFamily="2" charset="0"/>
              </a:rPr>
              <a:t> vs EST scheduling inconsistencies</a:t>
            </a:r>
          </a:p>
          <a:p>
            <a:pPr marL="469900" marR="1175385" lvl="1" defTabSz="2514600"/>
            <a:r>
              <a:rPr lang="en-CA">
                <a:latin typeface="Barlow Condensed Light" panose="00000406000000000000" pitchFamily="2" charset="0"/>
              </a:rPr>
              <a:t>✔ Stored time in UTC + frontend conversion</a:t>
            </a:r>
            <a:endParaRPr lang="en-US">
              <a:latin typeface="Barlow Condensed Light" panose="000004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206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73F4F5F-ADF3-F93A-4E12-62F3933F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7033260" cy="914400"/>
          </a:xfrm>
        </p:spPr>
        <p:txBody>
          <a:bodyPr anchor="ctr">
            <a:normAutofit/>
          </a:bodyPr>
          <a:lstStyle/>
          <a:p>
            <a:pPr algn="l"/>
            <a:r>
              <a:rPr lang="fr-CA" b="1">
                <a:solidFill>
                  <a:schemeClr val="bg1"/>
                </a:solidFill>
              </a:rPr>
              <a:t>Learning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B7BF52-B54D-260B-7F95-29A3F387D2B6}"/>
              </a:ext>
            </a:extLst>
          </p:cNvPr>
          <p:cNvSpPr txBox="1"/>
          <p:nvPr/>
        </p:nvSpPr>
        <p:spPr>
          <a:xfrm>
            <a:off x="640080" y="1473200"/>
            <a:ext cx="8143192" cy="4279900"/>
          </a:xfrm>
          <a:prstGeom prst="rect">
            <a:avLst/>
          </a:prstGeom>
          <a:noFill/>
        </p:spPr>
        <p:txBody>
          <a:bodyPr wrap="none" lIns="36000" tIns="36000" rIns="36000" bIns="36000" anchor="ctr">
            <a:noAutofit/>
          </a:bodyPr>
          <a:lstStyle/>
          <a:p>
            <a:r>
              <a:rPr lang="en-CA" b="1">
                <a:solidFill>
                  <a:srgbClr val="4E6F05"/>
                </a:solidFill>
                <a:latin typeface="Barlow Condensed Light" panose="00000406000000000000" pitchFamily="2" charset="0"/>
              </a:rPr>
              <a:t>🧠 Core Principles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CA">
                <a:latin typeface="Barlow Condensed Light" panose="00000406000000000000" pitchFamily="2" charset="0"/>
              </a:rPr>
              <a:t>Systems must be </a:t>
            </a:r>
            <a:r>
              <a:rPr lang="en-CA" b="1">
                <a:solidFill>
                  <a:srgbClr val="6CBF46"/>
                </a:solidFill>
                <a:latin typeface="Barlow Condensed Light" panose="00000406000000000000" pitchFamily="2" charset="0"/>
              </a:rPr>
              <a:t>workflow-driven</a:t>
            </a:r>
            <a:r>
              <a:rPr lang="en-CA">
                <a:latin typeface="Barlow Condensed Light" panose="00000406000000000000" pitchFamily="2" charset="0"/>
              </a:rPr>
              <a:t>, not feature-based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>
                <a:latin typeface="Barlow Condensed Light" panose="00000406000000000000" pitchFamily="2" charset="0"/>
              </a:rPr>
              <a:t>Handling </a:t>
            </a:r>
            <a:r>
              <a:rPr lang="en-CA" b="1">
                <a:solidFill>
                  <a:srgbClr val="6CBF46"/>
                </a:solidFill>
                <a:latin typeface="Barlow Condensed Light" panose="00000406000000000000" pitchFamily="2" charset="0"/>
              </a:rPr>
              <a:t>real-world data is complex</a:t>
            </a:r>
            <a:r>
              <a:rPr lang="en-CA">
                <a:solidFill>
                  <a:srgbClr val="6CBF46"/>
                </a:solidFill>
                <a:latin typeface="Barlow Condensed Light" panose="00000406000000000000" pitchFamily="2" charset="0"/>
              </a:rPr>
              <a:t> </a:t>
            </a:r>
            <a:r>
              <a:rPr lang="en-CA">
                <a:latin typeface="Barlow Condensed Light" panose="00000406000000000000" pitchFamily="2" charset="0"/>
              </a:rPr>
              <a:t>(time, payroll, users) 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A">
                <a:latin typeface="Barlow Condensed Light" panose="00000406000000000000" pitchFamily="2" charset="0"/>
              </a:rPr>
              <a:t>Cost vs scalability is a critical design trade-off </a:t>
            </a:r>
          </a:p>
          <a:p>
            <a:r>
              <a:rPr lang="en-CA" b="1">
                <a:solidFill>
                  <a:srgbClr val="4E6F05"/>
                </a:solidFill>
                <a:latin typeface="Barlow Condensed Light" panose="00000406000000000000" pitchFamily="2" charset="0"/>
              </a:rPr>
              <a:t>🤖 AI in Modern Systems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CA" b="1">
                <a:latin typeface="Barlow Condensed Light" panose="00000406000000000000" pitchFamily="2" charset="0"/>
              </a:rPr>
              <a:t>Should be </a:t>
            </a:r>
            <a:r>
              <a:rPr lang="en-CA">
                <a:latin typeface="Barlow Condensed Light" panose="00000406000000000000" pitchFamily="2" charset="0"/>
              </a:rPr>
              <a:t>Controlled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b="1">
                <a:latin typeface="Barlow Condensed Light" panose="00000406000000000000" pitchFamily="2" charset="0"/>
              </a:rPr>
              <a:t>Should be </a:t>
            </a:r>
            <a:r>
              <a:rPr lang="en-CA">
                <a:latin typeface="Barlow Condensed Light" panose="00000406000000000000" pitchFamily="2" charset="0"/>
              </a:rPr>
              <a:t>Structured 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A" b="1">
                <a:latin typeface="Barlow Condensed Light" panose="00000406000000000000" pitchFamily="2" charset="0"/>
              </a:rPr>
              <a:t>Should be </a:t>
            </a:r>
            <a:r>
              <a:rPr lang="en-CA">
                <a:latin typeface="Barlow Condensed Light" panose="00000406000000000000" pitchFamily="2" charset="0"/>
              </a:rPr>
              <a:t>Value-driven (not just a feature)</a:t>
            </a:r>
          </a:p>
          <a:p>
            <a:r>
              <a:rPr lang="en-CA" b="1">
                <a:solidFill>
                  <a:srgbClr val="4E6F05"/>
                </a:solidFill>
                <a:latin typeface="Barlow Condensed Light" panose="00000406000000000000" pitchFamily="2" charset="0"/>
              </a:rPr>
              <a:t>🚀 Engineering Mindset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CA">
                <a:latin typeface="Barlow Condensed Light" panose="00000406000000000000" pitchFamily="2" charset="0"/>
              </a:rPr>
              <a:t>Continuous learning is required to stay relevant in modern development in the age of AI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A">
                <a:latin typeface="Barlow Condensed Light" panose="00000406000000000000" pitchFamily="2" charset="0"/>
              </a:rPr>
              <a:t>building real systems is about designing workflows, not just features.</a:t>
            </a:r>
          </a:p>
        </p:txBody>
      </p:sp>
    </p:spTree>
    <p:extLst>
      <p:ext uri="{BB962C8B-B14F-4D97-AF65-F5344CB8AC3E}">
        <p14:creationId xmlns:p14="http://schemas.microsoft.com/office/powerpoint/2010/main" val="1293675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73F4F5F-ADF3-F93A-4E12-62F3933F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7033260" cy="914400"/>
          </a:xfrm>
        </p:spPr>
        <p:txBody>
          <a:bodyPr anchor="ctr">
            <a:normAutofit/>
          </a:bodyPr>
          <a:lstStyle/>
          <a:p>
            <a:pPr algn="l"/>
            <a:r>
              <a:rPr lang="fr-CA" b="1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0CC4FC-D1E5-F326-CB8C-BD8AB949EF41}"/>
              </a:ext>
            </a:extLst>
          </p:cNvPr>
          <p:cNvSpPr txBox="1"/>
          <p:nvPr/>
        </p:nvSpPr>
        <p:spPr>
          <a:xfrm>
            <a:off x="632460" y="1303020"/>
            <a:ext cx="8219440" cy="5227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lang="en-US" b="1">
                <a:latin typeface="Barlow Condensed Light" panose="00000406000000000000" pitchFamily="2" charset="0"/>
              </a:rPr>
              <a:t>Eco-Clean Web demonstrates that a unified digital platform can significantly improve operational efficiency in service-based businesses.</a:t>
            </a:r>
          </a:p>
          <a:p>
            <a:pPr>
              <a:spcAft>
                <a:spcPts val="600"/>
              </a:spcAft>
            </a:pPr>
            <a:r>
              <a:rPr lang="en-US">
                <a:latin typeface="Barlow Condensed Light" panose="00000406000000000000" pitchFamily="2" charset="0"/>
              </a:rPr>
              <a:t>The system successfully integrates:</a:t>
            </a:r>
          </a:p>
          <a:p>
            <a:pPr>
              <a:spcAft>
                <a:spcPts val="600"/>
              </a:spcAft>
            </a:pPr>
            <a:r>
              <a:rPr lang="en-US">
                <a:latin typeface="Barlow Condensed Light" panose="00000406000000000000" pitchFamily="2" charset="0"/>
              </a:rPr>
              <a:t>•	scheduling </a:t>
            </a:r>
          </a:p>
          <a:p>
            <a:pPr>
              <a:spcAft>
                <a:spcPts val="600"/>
              </a:spcAft>
            </a:pPr>
            <a:r>
              <a:rPr lang="en-US">
                <a:latin typeface="Barlow Condensed Light" panose="00000406000000000000" pitchFamily="2" charset="0"/>
              </a:rPr>
              <a:t>•	staff management </a:t>
            </a:r>
          </a:p>
          <a:p>
            <a:pPr>
              <a:spcAft>
                <a:spcPts val="600"/>
              </a:spcAft>
            </a:pPr>
            <a:r>
              <a:rPr lang="en-US">
                <a:latin typeface="Barlow Condensed Light" panose="00000406000000000000" pitchFamily="2" charset="0"/>
              </a:rPr>
              <a:t>•	time tracking </a:t>
            </a:r>
          </a:p>
          <a:p>
            <a:pPr>
              <a:spcAft>
                <a:spcPts val="600"/>
              </a:spcAft>
            </a:pPr>
            <a:r>
              <a:rPr lang="en-US">
                <a:latin typeface="Barlow Condensed Light" panose="00000406000000000000" pitchFamily="2" charset="0"/>
              </a:rPr>
              <a:t>•	payroll </a:t>
            </a:r>
          </a:p>
          <a:p>
            <a:pPr>
              <a:spcAft>
                <a:spcPts val="600"/>
              </a:spcAft>
            </a:pPr>
            <a:r>
              <a:rPr lang="en-US">
                <a:latin typeface="Barlow Condensed Light" panose="00000406000000000000" pitchFamily="2" charset="0"/>
              </a:rPr>
              <a:t>•	AI-assisted decision support </a:t>
            </a:r>
          </a:p>
          <a:p>
            <a:pPr>
              <a:spcAft>
                <a:spcPts val="600"/>
              </a:spcAft>
            </a:pPr>
            <a:r>
              <a:rPr lang="en-US" b="1">
                <a:latin typeface="Barlow Condensed Light" panose="00000406000000000000" pitchFamily="2" charset="0"/>
              </a:rPr>
              <a:t>Beyond the implementation, this project provides a practical framework for how small businesses can adopt digital transformation in a cost-effective and scalable manner.</a:t>
            </a:r>
          </a:p>
          <a:p>
            <a:pPr>
              <a:spcAft>
                <a:spcPts val="600"/>
              </a:spcAft>
            </a:pPr>
            <a:r>
              <a:rPr lang="en-US">
                <a:latin typeface="Barlow Condensed Light" panose="00000406000000000000" pitchFamily="2" charset="0"/>
              </a:rPr>
              <a:t>The solution also lays the foundation for future enhancements such as:</a:t>
            </a:r>
          </a:p>
          <a:p>
            <a:pPr>
              <a:spcAft>
                <a:spcPts val="600"/>
              </a:spcAft>
            </a:pPr>
            <a:r>
              <a:rPr lang="en-US">
                <a:latin typeface="Barlow Condensed Light" panose="00000406000000000000" pitchFamily="2" charset="0"/>
              </a:rPr>
              <a:t>•	analytics dashboards </a:t>
            </a:r>
          </a:p>
          <a:p>
            <a:pPr>
              <a:spcAft>
                <a:spcPts val="600"/>
              </a:spcAft>
            </a:pPr>
            <a:r>
              <a:rPr lang="en-US">
                <a:latin typeface="Barlow Condensed Light" panose="00000406000000000000" pitchFamily="2" charset="0"/>
              </a:rPr>
              <a:t>•	AI-driven optimization </a:t>
            </a:r>
          </a:p>
          <a:p>
            <a:pPr>
              <a:spcAft>
                <a:spcPts val="600"/>
              </a:spcAft>
            </a:pPr>
            <a:r>
              <a:rPr lang="en-US">
                <a:latin typeface="Barlow Condensed Light" panose="00000406000000000000" pitchFamily="2" charset="0"/>
              </a:rPr>
              <a:t>•	multi-company SaaS deployment</a:t>
            </a:r>
          </a:p>
        </p:txBody>
      </p:sp>
    </p:spTree>
    <p:extLst>
      <p:ext uri="{BB962C8B-B14F-4D97-AF65-F5344CB8AC3E}">
        <p14:creationId xmlns:p14="http://schemas.microsoft.com/office/powerpoint/2010/main" val="1457807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A677F9-4CA9-4D06-92AF-880A7B60D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Appendices</a:t>
            </a:r>
          </a:p>
        </p:txBody>
      </p:sp>
    </p:spTree>
    <p:extLst>
      <p:ext uri="{BB962C8B-B14F-4D97-AF65-F5344CB8AC3E}">
        <p14:creationId xmlns:p14="http://schemas.microsoft.com/office/powerpoint/2010/main" val="2898109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73F4F5F-ADF3-F93A-4E12-62F3933F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7033260" cy="914400"/>
          </a:xfrm>
        </p:spPr>
        <p:txBody>
          <a:bodyPr anchor="ctr">
            <a:normAutofit/>
          </a:bodyPr>
          <a:lstStyle/>
          <a:p>
            <a:pPr algn="l"/>
            <a:r>
              <a:rPr lang="fr-CA" b="1" err="1">
                <a:solidFill>
                  <a:schemeClr val="bg1"/>
                </a:solidFill>
              </a:rPr>
              <a:t>Database</a:t>
            </a:r>
            <a:r>
              <a:rPr lang="fr-CA" b="1">
                <a:solidFill>
                  <a:schemeClr val="bg1"/>
                </a:solidFill>
              </a:rPr>
              <a:t> 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793A2D-0830-FA8D-6817-9460049E8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8836"/>
            <a:ext cx="9144000" cy="226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88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73F4F5F-ADF3-F93A-4E12-62F3933F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7033260" cy="914400"/>
          </a:xfrm>
        </p:spPr>
        <p:txBody>
          <a:bodyPr anchor="ctr">
            <a:normAutofit/>
          </a:bodyPr>
          <a:lstStyle/>
          <a:p>
            <a:pPr algn="l"/>
            <a:r>
              <a:rPr lang="fr-CA" b="1">
                <a:solidFill>
                  <a:schemeClr val="bg1"/>
                </a:solidFill>
              </a:rPr>
              <a:t>Code 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0BB409-B0A1-8DB1-739D-36CC2A3560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45" b="65390"/>
          <a:stretch>
            <a:fillRect/>
          </a:stretch>
        </p:blipFill>
        <p:spPr>
          <a:xfrm>
            <a:off x="5683238" y="1015999"/>
            <a:ext cx="3194062" cy="29756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192CFA-D375-3375-2130-4A765A040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02192" y="-215112"/>
            <a:ext cx="3256602" cy="79994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B44C07-CF83-D66D-3237-24D0373E77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5" t="48105" r="52628" b="31256"/>
          <a:stretch>
            <a:fillRect/>
          </a:stretch>
        </p:blipFill>
        <p:spPr>
          <a:xfrm>
            <a:off x="6158207" y="4779064"/>
            <a:ext cx="1638637" cy="177447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9931CA-2B5A-BF77-39FE-AE11D74AA477}"/>
              </a:ext>
            </a:extLst>
          </p:cNvPr>
          <p:cNvCxnSpPr/>
          <p:nvPr/>
        </p:nvCxnSpPr>
        <p:spPr>
          <a:xfrm>
            <a:off x="6903142" y="3991664"/>
            <a:ext cx="0" cy="787400"/>
          </a:xfrm>
          <a:prstGeom prst="straightConnector1">
            <a:avLst/>
          </a:prstGeom>
          <a:ln>
            <a:solidFill>
              <a:srgbClr val="4E6F0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F28C21E-857B-B7FF-5A66-3619C3E2CB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410" t="36196" r="8302" b="-117"/>
          <a:stretch>
            <a:fillRect/>
          </a:stretch>
        </p:blipFill>
        <p:spPr>
          <a:xfrm>
            <a:off x="1856001" y="914400"/>
            <a:ext cx="1638641" cy="59436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CF7809B-2467-56BD-1466-7B5D68BDE47E}"/>
              </a:ext>
            </a:extLst>
          </p:cNvPr>
          <p:cNvCxnSpPr/>
          <p:nvPr/>
        </p:nvCxnSpPr>
        <p:spPr>
          <a:xfrm flipH="1">
            <a:off x="3395059" y="2525917"/>
            <a:ext cx="2372008" cy="0"/>
          </a:xfrm>
          <a:prstGeom prst="straightConnector1">
            <a:avLst/>
          </a:prstGeom>
          <a:ln>
            <a:solidFill>
              <a:srgbClr val="4E6F0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067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</Words>
  <Application>Microsoft Macintosh PowerPoint</Application>
  <PresentationFormat>On-screen Show (4:3)</PresentationFormat>
  <Paragraphs>125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-apple-system</vt:lpstr>
      <vt:lpstr>Arial</vt:lpstr>
      <vt:lpstr>Barlow Condensed Light</vt:lpstr>
      <vt:lpstr>Calibri</vt:lpstr>
      <vt:lpstr>Google Sans</vt:lpstr>
      <vt:lpstr>Office Theme</vt:lpstr>
      <vt:lpstr>Eco-Clean</vt:lpstr>
      <vt:lpstr>Background</vt:lpstr>
      <vt:lpstr>Research Methods</vt:lpstr>
      <vt:lpstr>Evolution of the Project</vt:lpstr>
      <vt:lpstr>Technology Stack</vt:lpstr>
      <vt:lpstr>Major Results &amp; Anticipated Implications</vt:lpstr>
      <vt:lpstr>Key Features</vt:lpstr>
      <vt:lpstr>Challenges Encountered</vt:lpstr>
      <vt:lpstr>Learning</vt:lpstr>
      <vt:lpstr>Conclusion</vt:lpstr>
      <vt:lpstr>Appendices</vt:lpstr>
      <vt:lpstr>Database Structure</vt:lpstr>
      <vt:lpstr>Code Structure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Upul Madhusanka Atapattu</dc:creator>
  <cp:keywords/>
  <dc:description>generated using python-pptx</dc:description>
  <cp:lastModifiedBy>Arachchi Mudiyanselage, Vidarshan A.</cp:lastModifiedBy>
  <cp:revision>2</cp:revision>
  <dcterms:created xsi:type="dcterms:W3CDTF">2013-01-27T09:14:16Z</dcterms:created>
  <dcterms:modified xsi:type="dcterms:W3CDTF">2026-04-09T02:18:37Z</dcterms:modified>
  <cp:category/>
</cp:coreProperties>
</file>